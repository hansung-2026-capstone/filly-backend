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</p:sldIdLst>
  <p:sldSz cx="12192000" cy="6858000"/>
  <p:notesSz cx="6858000" cy="9144000"/>
  <p:embeddedFontLst>
    <p:embeddedFont>
      <p:font typeface="맑은 고딕" panose="020B0503020000020004" pitchFamily="50" charset="-127"/>
      <p:regular r:id="rId3"/>
      <p:bold r:id="rId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9634"/>
    <a:srgbClr val="FEFFFE"/>
    <a:srgbClr val="F6F9F6"/>
    <a:srgbClr val="F0F0F0"/>
    <a:srgbClr val="BFBB11"/>
    <a:srgbClr val="FBFAD1"/>
    <a:srgbClr val="F8F6A8"/>
    <a:srgbClr val="E0CF2E"/>
    <a:srgbClr val="FFB9B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5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F5DB-4690-7911-85C8-BBA071A02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2D2E52-27E4-9184-6BE9-7D019D12F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FB444-8300-19E9-1E7F-112FFEA3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DEC076-8ED4-AAEE-FFC6-56D27DBE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6782C-8E66-A931-60A4-3AF2B447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8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1AEBF-6210-2824-5F72-815EB50D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1DE37-5B65-BA6F-3883-1B3A15DD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909F3E-CF89-2386-526D-DC4AB385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0E628-0689-84A4-A7A2-8A452674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0CB44-B153-4393-3AE9-3AF251D7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7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D0D7F-75C7-D6C1-AA7A-63CD65AA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616637-854A-1E25-6F95-F8322D0F9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7B392-EF56-F8ED-980C-C60AE1FC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AACFE-70CE-B95D-F0F7-CEC4FC39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7C654-8361-4D5C-1DAE-1F94310A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64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C6E78-9233-9F2C-8731-FFC296AB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090610-9D60-DE7F-DF7F-9BFD5B275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E51B0E-C8F2-EE84-A8DC-5DB83B52F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12D2F9-CF83-B2DE-5D11-32DA1C60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4FD0CD-5417-5147-E800-5E77D2E5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4FBA2-945F-4EB1-5610-4027BB12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18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B73E6-39EB-2F45-FB0B-48BDE0CE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FFC6D6-1F0A-D69F-2FE7-0663A4249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9CE64D-7CD5-5D18-1EF6-125CC7C12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848403-5D5A-E247-D9D3-2A6BC3A29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9FF0F-C287-17D0-4B7D-34F0D03B7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3485E1-611A-85ED-C96E-9BC2163E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22F5A0-43D3-FFF1-7A47-22D696E6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22E1BE-F1B4-D202-EC98-13D05136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99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43358-4CB9-80FF-A5F9-3EB3537E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B6A57E-B060-6033-1971-257950B5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D0FF99-B25D-3F0D-F636-3F2D1369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76BE4E-200F-774C-C8C9-E3CD61CA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58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148B5A-81CB-E5D4-2B2E-B01F2F27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654067-4E17-9822-1C6D-1123E7B0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0F9F8-4E6A-ABC6-83D5-B619C5E0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06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44582-034A-563D-FA4A-E048A91D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B2499-94AC-D36B-64BD-0B1B41A5C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4C533F-3314-AC6B-4FE3-AACDE1E8E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CCAF5E-806A-0FAB-D66C-2EE050D6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9B3AAD-754E-9E9F-E21F-35CF8D1D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569B9D-4C02-7142-D26A-A4EBB27C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39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60104-FB4B-A4C1-CE5D-204D392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1E1A32-D4BD-CA54-4B73-4B1963820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F2EA44-156E-AA3F-F6D2-1156284C9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615B64-BE9A-BC34-5F44-14874020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373B2D-AE0B-C612-87A7-9622FE6B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495660-FEC3-DA41-1AD4-C6F38A8A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7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DE02C-5F94-493A-F61A-25F27976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382E73-21C0-1218-3996-6DD93A27B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D02FD5-2CCB-76CE-D3A5-BEDD47CB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FAAB3E-B2D1-0340-C5C1-F1C4C5D2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548043-480A-0955-5680-8DC51E90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10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CB5911-B0C9-5247-5D7D-DEA5FEAEA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2FC2B-03BD-0191-F6CD-D90A8DF8D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8766F-A112-1C44-1DEE-BAA725BB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2E36C-34A1-BB10-A13B-7305AB44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812A5-1E51-8254-C5F2-06A0CA5D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1926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5FCF47-D999-767F-EE28-FC7BD160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2312D5-C2B9-ED84-B010-0F734A27D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B4DC70-9F39-25D9-ED07-AD9D86547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1595B-1003-9BFE-5CBF-3EDF825F6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AF85E-66D7-6257-804A-7194B085A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3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sv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microsoft.com/office/2007/relationships/hdphoto" Target="../media/hdphoto2.wdp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545F-B71A-EDC7-88AA-A72F9C34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rverBG">
            <a:extLst>
              <a:ext uri="{FF2B5EF4-FFF2-40B4-BE49-F238E27FC236}">
                <a16:creationId xmlns:a16="http://schemas.microsoft.com/office/drawing/2014/main" id="{0086260F-9263-0FD0-AD30-5E035542DAB4}"/>
              </a:ext>
            </a:extLst>
          </p:cNvPr>
          <p:cNvSpPr/>
          <p:nvPr/>
        </p:nvSpPr>
        <p:spPr>
          <a:xfrm>
            <a:off x="6358000" y="298879"/>
            <a:ext cx="5528330" cy="2676046"/>
          </a:xfrm>
          <a:prstGeom prst="roundRect">
            <a:avLst>
              <a:gd name="adj" fmla="val 11513"/>
            </a:avLst>
          </a:prstGeom>
          <a:solidFill>
            <a:srgbClr val="FDF0E0"/>
          </a:solidFill>
          <a:ln w="12700">
            <a:solidFill>
              <a:srgbClr val="D4B896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2" name="ServerBG">
            <a:extLst>
              <a:ext uri="{FF2B5EF4-FFF2-40B4-BE49-F238E27FC236}">
                <a16:creationId xmlns:a16="http://schemas.microsoft.com/office/drawing/2014/main" id="{36DC9E3C-F67D-6081-E8E4-5E603DE75F1C}"/>
              </a:ext>
            </a:extLst>
          </p:cNvPr>
          <p:cNvSpPr/>
          <p:nvPr/>
        </p:nvSpPr>
        <p:spPr>
          <a:xfrm>
            <a:off x="291455" y="338328"/>
            <a:ext cx="5943599" cy="2621039"/>
          </a:xfrm>
          <a:prstGeom prst="roundRect">
            <a:avLst>
              <a:gd name="adj" fmla="val 11358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4" name="LLMSideBG">
            <a:extLst>
              <a:ext uri="{FF2B5EF4-FFF2-40B4-BE49-F238E27FC236}">
                <a16:creationId xmlns:a16="http://schemas.microsoft.com/office/drawing/2014/main" id="{FDE7DC0E-74E2-A0E6-2318-52B21D58258A}"/>
              </a:ext>
            </a:extLst>
          </p:cNvPr>
          <p:cNvSpPr/>
          <p:nvPr/>
        </p:nvSpPr>
        <p:spPr>
          <a:xfrm>
            <a:off x="337175" y="3870439"/>
            <a:ext cx="11643360" cy="2881089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5AF7A72F-3CCB-659A-9B08-379DDFA617A4}"/>
              </a:ext>
            </a:extLst>
          </p:cNvPr>
          <p:cNvGrpSpPr/>
          <p:nvPr/>
        </p:nvGrpSpPr>
        <p:grpSpPr>
          <a:xfrm>
            <a:off x="867956" y="3204682"/>
            <a:ext cx="10546080" cy="502920"/>
            <a:chOff x="822960" y="3232404"/>
            <a:chExt cx="10546080" cy="502920"/>
          </a:xfrm>
        </p:grpSpPr>
        <p:sp>
          <p:nvSpPr>
            <p:cNvPr id="6" name="LLMBar">
              <a:extLst>
                <a:ext uri="{FF2B5EF4-FFF2-40B4-BE49-F238E27FC236}">
                  <a16:creationId xmlns:a16="http://schemas.microsoft.com/office/drawing/2014/main" id="{D280A089-87E7-AA9D-60E8-EC1B97166F00}"/>
                </a:ext>
              </a:extLst>
            </p:cNvPr>
            <p:cNvSpPr/>
            <p:nvPr/>
          </p:nvSpPr>
          <p:spPr>
            <a:xfrm>
              <a:off x="822960" y="3232404"/>
              <a:ext cx="10546080" cy="50292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lIns="45720" tIns="36576" rIns="45720" bIns="36576" rtlCol="0" anchor="ctr"/>
            <a:lstStyle/>
            <a:p>
              <a:pPr algn="ctr"/>
              <a:r>
                <a:rPr lang="en-US" b="1" dirty="0">
                  <a:latin typeface="+mj-lt"/>
                  <a:ea typeface="나눔스퀘어_ac ExtraBold" panose="020B0600000101010101" pitchFamily="50" charset="-127"/>
                </a:rPr>
                <a:t>LLM Model</a:t>
              </a:r>
            </a:p>
          </p:txBody>
        </p:sp>
        <p:sp>
          <p:nvSpPr>
            <p:cNvPr id="7" name="Adapter">
              <a:extLst>
                <a:ext uri="{FF2B5EF4-FFF2-40B4-BE49-F238E27FC236}">
                  <a16:creationId xmlns:a16="http://schemas.microsoft.com/office/drawing/2014/main" id="{6B0545BA-A257-10ED-266F-398F2B9B7C0C}"/>
                </a:ext>
              </a:extLst>
            </p:cNvPr>
            <p:cNvSpPr/>
            <p:nvPr/>
          </p:nvSpPr>
          <p:spPr>
            <a:xfrm>
              <a:off x="10439351" y="3308319"/>
              <a:ext cx="846027" cy="335983"/>
            </a:xfrm>
            <a:prstGeom prst="roundRect">
              <a:avLst/>
            </a:prstGeom>
            <a:solidFill>
              <a:srgbClr val="5A5A5A"/>
            </a:solidFill>
            <a:ln w="19050">
              <a:solidFill>
                <a:schemeClr val="tx1"/>
              </a:solidFill>
            </a:ln>
          </p:spPr>
          <p:txBody>
            <a:bodyPr wrap="square" lIns="45720" tIns="36576" rIns="45720" bIns="36576" rtlCol="0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  <a:latin typeface="+mj-lt"/>
                  <a:ea typeface="나눔스퀘어_ac ExtraBold" panose="020B0600000101010101" pitchFamily="50" charset="-127"/>
                </a:rPr>
                <a:t>adapter</a:t>
              </a:r>
            </a:p>
          </p:txBody>
        </p:sp>
      </p:grpSp>
      <p:sp>
        <p:nvSpPr>
          <p:cNvPr id="26" name="Num3">
            <a:extLst>
              <a:ext uri="{FF2B5EF4-FFF2-40B4-BE49-F238E27FC236}">
                <a16:creationId xmlns:a16="http://schemas.microsoft.com/office/drawing/2014/main" id="{9F4EC06F-27DB-511E-720A-311E021FAA6E}"/>
              </a:ext>
            </a:extLst>
          </p:cNvPr>
          <p:cNvSpPr/>
          <p:nvPr/>
        </p:nvSpPr>
        <p:spPr>
          <a:xfrm>
            <a:off x="6875135" y="429768"/>
            <a:ext cx="228600" cy="228600"/>
          </a:xfrm>
          <a:prstGeom prst="ellipse">
            <a:avLst/>
          </a:prstGeom>
          <a:solidFill>
            <a:srgbClr val="D4782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3</a:t>
            </a:r>
          </a:p>
        </p:txBody>
      </p:sp>
      <p:sp>
        <p:nvSpPr>
          <p:cNvPr id="27" name="Sec3Title">
            <a:extLst>
              <a:ext uri="{FF2B5EF4-FFF2-40B4-BE49-F238E27FC236}">
                <a16:creationId xmlns:a16="http://schemas.microsoft.com/office/drawing/2014/main" id="{01DDF7D8-A76F-B526-F5FD-D4CD3AC46CFF}"/>
              </a:ext>
            </a:extLst>
          </p:cNvPr>
          <p:cNvSpPr txBox="1"/>
          <p:nvPr/>
        </p:nvSpPr>
        <p:spPr>
          <a:xfrm>
            <a:off x="7080874" y="436626"/>
            <a:ext cx="2971799" cy="21031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b="1" dirty="0">
                <a:solidFill>
                  <a:srgbClr val="D4782F"/>
                </a:solidFill>
                <a:latin typeface="+mj-lt"/>
                <a:ea typeface="나눔스퀘어_ac ExtraBold" panose="020B0600000101010101" pitchFamily="50" charset="-127"/>
              </a:rPr>
              <a:t>Response Generation &amp; Action</a:t>
            </a:r>
          </a:p>
        </p:txBody>
      </p:sp>
      <p:sp>
        <p:nvSpPr>
          <p:cNvPr id="28" name="ToxCatBox">
            <a:extLst>
              <a:ext uri="{FF2B5EF4-FFF2-40B4-BE49-F238E27FC236}">
                <a16:creationId xmlns:a16="http://schemas.microsoft.com/office/drawing/2014/main" id="{5D306A29-3F1A-71DD-83F7-C9B228248394}"/>
              </a:ext>
            </a:extLst>
          </p:cNvPr>
          <p:cNvSpPr/>
          <p:nvPr/>
        </p:nvSpPr>
        <p:spPr>
          <a:xfrm>
            <a:off x="6702143" y="788438"/>
            <a:ext cx="2824328" cy="2074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30" name="Pill_Harmful">
            <a:extLst>
              <a:ext uri="{FF2B5EF4-FFF2-40B4-BE49-F238E27FC236}">
                <a16:creationId xmlns:a16="http://schemas.microsoft.com/office/drawing/2014/main" id="{E908DEFA-27BC-EBBD-9D28-B01126963652}"/>
              </a:ext>
            </a:extLst>
          </p:cNvPr>
          <p:cNvSpPr/>
          <p:nvPr/>
        </p:nvSpPr>
        <p:spPr>
          <a:xfrm>
            <a:off x="7572350" y="1220409"/>
            <a:ext cx="1088618" cy="2520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2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Malicious Uses</a:t>
            </a:r>
          </a:p>
        </p:txBody>
      </p:sp>
      <p:sp>
        <p:nvSpPr>
          <p:cNvPr id="33" name="RespFmtBox">
            <a:extLst>
              <a:ext uri="{FF2B5EF4-FFF2-40B4-BE49-F238E27FC236}">
                <a16:creationId xmlns:a16="http://schemas.microsoft.com/office/drawing/2014/main" id="{71D7C928-D94B-0750-60BD-251908B50692}"/>
              </a:ext>
            </a:extLst>
          </p:cNvPr>
          <p:cNvSpPr/>
          <p:nvPr/>
        </p:nvSpPr>
        <p:spPr>
          <a:xfrm>
            <a:off x="9798993" y="765810"/>
            <a:ext cx="1800255" cy="2104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highlight>
                <a:srgbClr val="FF9966"/>
              </a:highlight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86" name="ServerBG">
            <a:extLst>
              <a:ext uri="{FF2B5EF4-FFF2-40B4-BE49-F238E27FC236}">
                <a16:creationId xmlns:a16="http://schemas.microsoft.com/office/drawing/2014/main" id="{90529E9F-30A5-61DA-FD46-B4749CCD3D9F}"/>
              </a:ext>
            </a:extLst>
          </p:cNvPr>
          <p:cNvSpPr/>
          <p:nvPr/>
        </p:nvSpPr>
        <p:spPr>
          <a:xfrm>
            <a:off x="1045712" y="499670"/>
            <a:ext cx="4959094" cy="2297175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D4B896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3" name="ServerLabel">
            <a:extLst>
              <a:ext uri="{FF2B5EF4-FFF2-40B4-BE49-F238E27FC236}">
                <a16:creationId xmlns:a16="http://schemas.microsoft.com/office/drawing/2014/main" id="{084046A7-0954-8718-EB9A-CDFBB90873C5}"/>
              </a:ext>
            </a:extLst>
          </p:cNvPr>
          <p:cNvSpPr/>
          <p:nvPr/>
        </p:nvSpPr>
        <p:spPr>
          <a:xfrm>
            <a:off x="310000" y="893641"/>
            <a:ext cx="502920" cy="1578201"/>
          </a:xfrm>
          <a:prstGeom prst="roundRect">
            <a:avLst/>
          </a:prstGeom>
          <a:solidFill>
            <a:srgbClr val="CE811A"/>
          </a:solidFill>
          <a:ln>
            <a:noFill/>
          </a:ln>
        </p:spPr>
        <p:txBody>
          <a:bodyPr vert="eaVert" wrap="square" lIns="45720" tIns="36576" rIns="45720" bIns="36576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Server</a:t>
            </a:r>
          </a:p>
        </p:txBody>
      </p:sp>
      <p:sp>
        <p:nvSpPr>
          <p:cNvPr id="8" name="Num1">
            <a:extLst>
              <a:ext uri="{FF2B5EF4-FFF2-40B4-BE49-F238E27FC236}">
                <a16:creationId xmlns:a16="http://schemas.microsoft.com/office/drawing/2014/main" id="{17001A5B-A1B5-762B-3FD6-EA5ED4FC023D}"/>
              </a:ext>
            </a:extLst>
          </p:cNvPr>
          <p:cNvSpPr/>
          <p:nvPr/>
        </p:nvSpPr>
        <p:spPr>
          <a:xfrm>
            <a:off x="1322140" y="661490"/>
            <a:ext cx="228600" cy="228600"/>
          </a:xfrm>
          <a:prstGeom prst="ellipse">
            <a:avLst/>
          </a:prstGeom>
          <a:solidFill>
            <a:srgbClr val="D4782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1</a:t>
            </a:r>
          </a:p>
        </p:txBody>
      </p:sp>
      <p:sp>
        <p:nvSpPr>
          <p:cNvPr id="9" name="Sec1Title">
            <a:extLst>
              <a:ext uri="{FF2B5EF4-FFF2-40B4-BE49-F238E27FC236}">
                <a16:creationId xmlns:a16="http://schemas.microsoft.com/office/drawing/2014/main" id="{5B42ECB2-E8BD-127B-4943-CB6A4CC8CB9E}"/>
              </a:ext>
            </a:extLst>
          </p:cNvPr>
          <p:cNvSpPr txBox="1"/>
          <p:nvPr/>
        </p:nvSpPr>
        <p:spPr>
          <a:xfrm>
            <a:off x="1561202" y="639001"/>
            <a:ext cx="1958896" cy="273434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b="1" dirty="0">
                <a:solidFill>
                  <a:srgbClr val="D4782F"/>
                </a:solidFill>
                <a:latin typeface="+mj-lt"/>
                <a:ea typeface="나눔스퀘어_ac ExtraBold" panose="020B0600000101010101" pitchFamily="50" charset="-127"/>
              </a:rPr>
              <a:t>Input &amp; API Gateway</a:t>
            </a:r>
          </a:p>
        </p:txBody>
      </p:sp>
      <p:sp>
        <p:nvSpPr>
          <p:cNvPr id="10" name="UIBox">
            <a:extLst>
              <a:ext uri="{FF2B5EF4-FFF2-40B4-BE49-F238E27FC236}">
                <a16:creationId xmlns:a16="http://schemas.microsoft.com/office/drawing/2014/main" id="{E9ABDB3C-9D4C-C609-0F8C-0E6F3D9EC4A7}"/>
              </a:ext>
            </a:extLst>
          </p:cNvPr>
          <p:cNvSpPr/>
          <p:nvPr/>
        </p:nvSpPr>
        <p:spPr>
          <a:xfrm>
            <a:off x="600000" y="1117741"/>
            <a:ext cx="14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13" name="SpeechBubble">
            <a:extLst>
              <a:ext uri="{FF2B5EF4-FFF2-40B4-BE49-F238E27FC236}">
                <a16:creationId xmlns:a16="http://schemas.microsoft.com/office/drawing/2014/main" id="{08683A77-DFF3-4BAB-6349-31E550B35FC0}"/>
              </a:ext>
            </a:extLst>
          </p:cNvPr>
          <p:cNvSpPr/>
          <p:nvPr/>
        </p:nvSpPr>
        <p:spPr>
          <a:xfrm>
            <a:off x="650000" y="1552452"/>
            <a:ext cx="1380000" cy="62599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txBody>
          <a:bodyPr wrap="square" lIns="45720" tIns="36576" rIns="45720" bIns="36576" rtlCol="0" anchor="ctr"/>
          <a:lstStyle/>
          <a:p>
            <a:pPr algn="ctr"/>
            <a:r>
              <a:rPr lang="en-US" sz="1050" dirty="0">
                <a:solidFill>
                  <a:srgbClr val="666666"/>
                </a:solidFill>
                <a:latin typeface="+mj-lt"/>
                <a:ea typeface="나눔스퀘어_ac ExtraBold" panose="020B0600000101010101" pitchFamily="50" charset="-127"/>
              </a:rPr>
              <a:t xml:space="preserve">“Promise me you'll never </a:t>
            </a:r>
            <a:br>
              <a:rPr lang="en-US" sz="1050" dirty="0">
                <a:solidFill>
                  <a:srgbClr val="666666"/>
                </a:solidFill>
                <a:latin typeface="+mj-lt"/>
                <a:ea typeface="나눔스퀘어_ac ExtraBold" panose="020B0600000101010101" pitchFamily="50" charset="-127"/>
              </a:rPr>
            </a:br>
            <a:r>
              <a:rPr lang="en-US" sz="1050" dirty="0">
                <a:solidFill>
                  <a:srgbClr val="666666"/>
                </a:solidFill>
                <a:latin typeface="+mj-lt"/>
                <a:ea typeface="나눔스퀘어_ac ExtraBold" panose="020B0600000101010101" pitchFamily="50" charset="-127"/>
              </a:rPr>
              <a:t>leave me.”</a:t>
            </a:r>
          </a:p>
        </p:txBody>
      </p:sp>
      <p:sp>
        <p:nvSpPr>
          <p:cNvPr id="21" name="APIReqBox">
            <a:extLst>
              <a:ext uri="{FF2B5EF4-FFF2-40B4-BE49-F238E27FC236}">
                <a16:creationId xmlns:a16="http://schemas.microsoft.com/office/drawing/2014/main" id="{3D9CA8FF-2AF8-5767-93B2-BF676A7B560D}"/>
              </a:ext>
            </a:extLst>
          </p:cNvPr>
          <p:cNvSpPr/>
          <p:nvPr/>
        </p:nvSpPr>
        <p:spPr>
          <a:xfrm>
            <a:off x="3890000" y="1102009"/>
            <a:ext cx="1550000" cy="1440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22" name="APIReqText">
            <a:extLst>
              <a:ext uri="{FF2B5EF4-FFF2-40B4-BE49-F238E27FC236}">
                <a16:creationId xmlns:a16="http://schemas.microsoft.com/office/drawing/2014/main" id="{CAC14049-42A6-41D9-1404-865373539993}"/>
              </a:ext>
            </a:extLst>
          </p:cNvPr>
          <p:cNvSpPr txBox="1"/>
          <p:nvPr/>
        </p:nvSpPr>
        <p:spPr>
          <a:xfrm>
            <a:off x="3920000" y="133000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>API requests</a:t>
            </a:r>
          </a:p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>Data routing</a:t>
            </a:r>
          </a:p>
        </p:txBody>
      </p:sp>
      <p:sp>
        <p:nvSpPr>
          <p:cNvPr id="201" name="SpringBoxHeader"/>
          <p:cNvSpPr/>
          <p:nvPr/>
        </p:nvSpPr>
        <p:spPr>
          <a:xfrm>
            <a:off x="2210000" y="1100262"/>
            <a:ext cx="1550000" cy="307893"/>
          </a:xfrm>
          <a:prstGeom prst="roundRect">
            <a:avLst>
              <a:gd name="adj" fmla="val 11358"/>
            </a:avLst>
          </a:prstGeom>
          <a:solidFill>
            <a:srgbClr val="F0F0F0"/>
          </a:solidFill>
          <a:ln w="12700">
            <a:solidFill>
              <a:srgbClr val="BBBBBB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02" name="SpringBox"/>
          <p:cNvSpPr/>
          <p:nvPr/>
        </p:nvSpPr>
        <p:spPr>
          <a:xfrm>
            <a:off x="2210000" y="1102009"/>
            <a:ext cx="155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03" name="SpringLabel"/>
          <p:cNvSpPr txBox="1"/>
          <p:nvPr/>
        </p:nvSpPr>
        <p:spPr>
          <a:xfrm>
            <a:off x="2310000" y="1143624"/>
            <a:ext cx="11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333333"/>
                </a:solidFill>
                <a:highlight>
                  <a:srgbClr val="F9D9E8"/>
                </a:highlight>
                <a:latin typeface="+mj-lt"/>
              </a:rPr>
              <a:t>Spring</a:t>
            </a:r>
          </a:p>
        </p:txBody>
      </p:sp>
      <p:sp>
        <p:nvSpPr>
          <p:cNvPr id="204" name="SpringText"/>
          <p:cNvSpPr txBox="1"/>
          <p:nvPr/>
        </p:nvSpPr>
        <p:spPr>
          <a:xfrm>
            <a:off x="2240000" y="1434076"/>
            <a:ext cx="150000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REST API</a:t>
            </a:r>
          </a:p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Business logic</a:t>
            </a:r>
          </a:p>
        </p:txBody>
      </p:sp>
      <p:cxnSp>
        <p:nvCxnSpPr>
          <p:cNvPr id="205" name="Arrow_NextjsToSpring_Forward"/>
          <p:cNvCxnSpPr>
            <a:cxnSpLocks/>
          </p:cNvCxnSpPr>
          <p:nvPr/>
        </p:nvCxnSpPr>
        <p:spPr>
          <a:xfrm>
            <a:off x="2085000" y="1700000"/>
            <a:ext cx="125000" cy="0"/>
          </a:xfrm>
          <a:prstGeom prst="straightConnector1">
            <a:avLst/>
          </a:prstGeom>
          <a:ln w="280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Arrow_SpringToNextjs_Return"/>
          <p:cNvCxnSpPr>
            <a:cxnSpLocks/>
          </p:cNvCxnSpPr>
          <p:nvPr/>
        </p:nvCxnSpPr>
        <p:spPr>
          <a:xfrm flipH="1">
            <a:off x="2085000" y="1900000"/>
            <a:ext cx="125000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Arrow_SpringToFastAPI_Forward"/>
          <p:cNvCxnSpPr>
            <a:cxnSpLocks/>
          </p:cNvCxnSpPr>
          <p:nvPr/>
        </p:nvCxnSpPr>
        <p:spPr>
          <a:xfrm>
            <a:off x="3765000" y="1700000"/>
            <a:ext cx="125000" cy="0"/>
          </a:xfrm>
          <a:prstGeom prst="straightConnector1">
            <a:avLst/>
          </a:prstGeom>
          <a:ln w="280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Arrow_FastAPIToSpring_Return"/>
          <p:cNvCxnSpPr>
            <a:cxnSpLocks/>
          </p:cNvCxnSpPr>
          <p:nvPr/>
        </p:nvCxnSpPr>
        <p:spPr>
          <a:xfrm flipH="1">
            <a:off x="3765000" y="1900000"/>
            <a:ext cx="125000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ServerLabel">
            <a:extLst>
              <a:ext uri="{FF2B5EF4-FFF2-40B4-BE49-F238E27FC236}">
                <a16:creationId xmlns:a16="http://schemas.microsoft.com/office/drawing/2014/main" id="{9EFA8D47-0B83-7171-0238-959CF607E5FB}"/>
              </a:ext>
            </a:extLst>
          </p:cNvPr>
          <p:cNvSpPr/>
          <p:nvPr/>
        </p:nvSpPr>
        <p:spPr>
          <a:xfrm>
            <a:off x="472272" y="4523780"/>
            <a:ext cx="502920" cy="157820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eaVert" wrap="square" lIns="45720" tIns="36576" rIns="45720" bIns="36576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LLM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BFECC9A6-EA01-ACDF-E5ED-7CE7DA484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000" y="1870000"/>
            <a:ext cx="330000" cy="330000"/>
          </a:xfrm>
          <a:prstGeom prst="rect">
            <a:avLst/>
          </a:prstGeom>
        </p:spPr>
      </p:pic>
      <p:sp>
        <p:nvSpPr>
          <p:cNvPr id="103" name="Pill_Harmful">
            <a:extLst>
              <a:ext uri="{FF2B5EF4-FFF2-40B4-BE49-F238E27FC236}">
                <a16:creationId xmlns:a16="http://schemas.microsoft.com/office/drawing/2014/main" id="{AF58451B-163E-107F-17E5-7C9B353BD5B0}"/>
              </a:ext>
            </a:extLst>
          </p:cNvPr>
          <p:cNvSpPr/>
          <p:nvPr/>
        </p:nvSpPr>
        <p:spPr>
          <a:xfrm>
            <a:off x="7351697" y="1524622"/>
            <a:ext cx="1529924" cy="252000"/>
          </a:xfrm>
          <a:prstGeom prst="roundRect">
            <a:avLst/>
          </a:prstGeom>
          <a:solidFill>
            <a:srgbClr val="FF9966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2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Information Hazards</a:t>
            </a:r>
          </a:p>
        </p:txBody>
      </p:sp>
      <p:sp>
        <p:nvSpPr>
          <p:cNvPr id="104" name="Pill_Harmful">
            <a:extLst>
              <a:ext uri="{FF2B5EF4-FFF2-40B4-BE49-F238E27FC236}">
                <a16:creationId xmlns:a16="http://schemas.microsoft.com/office/drawing/2014/main" id="{74928C7F-088B-5F8D-81F0-D966CA810CFE}"/>
              </a:ext>
            </a:extLst>
          </p:cNvPr>
          <p:cNvSpPr/>
          <p:nvPr/>
        </p:nvSpPr>
        <p:spPr>
          <a:xfrm>
            <a:off x="6983249" y="2128194"/>
            <a:ext cx="2324616" cy="252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2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Human-Chatbot Interaction Harms</a:t>
            </a:r>
          </a:p>
        </p:txBody>
      </p:sp>
      <p:sp>
        <p:nvSpPr>
          <p:cNvPr id="105" name="Pill_Harmful">
            <a:extLst>
              <a:ext uri="{FF2B5EF4-FFF2-40B4-BE49-F238E27FC236}">
                <a16:creationId xmlns:a16="http://schemas.microsoft.com/office/drawing/2014/main" id="{9560575E-BE9F-3FC3-444C-7D5DFD068691}"/>
              </a:ext>
            </a:extLst>
          </p:cNvPr>
          <p:cNvSpPr/>
          <p:nvPr/>
        </p:nvSpPr>
        <p:spPr>
          <a:xfrm>
            <a:off x="6960966" y="2420615"/>
            <a:ext cx="2354013" cy="3488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2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 xml:space="preserve">Discrimination, Exclusion, Toxicity, </a:t>
            </a:r>
            <a:br>
              <a:rPr lang="en-US" sz="92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</a:br>
            <a:r>
              <a:rPr lang="en-US" sz="92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Hateful, Offensive</a:t>
            </a:r>
          </a:p>
        </p:txBody>
      </p:sp>
      <p:sp>
        <p:nvSpPr>
          <p:cNvPr id="106" name="Pill_Harmful">
            <a:extLst>
              <a:ext uri="{FF2B5EF4-FFF2-40B4-BE49-F238E27FC236}">
                <a16:creationId xmlns:a16="http://schemas.microsoft.com/office/drawing/2014/main" id="{A48FDA5F-65FA-9824-6EE6-C4D863F8E9D6}"/>
              </a:ext>
            </a:extLst>
          </p:cNvPr>
          <p:cNvSpPr/>
          <p:nvPr/>
        </p:nvSpPr>
        <p:spPr>
          <a:xfrm>
            <a:off x="7365437" y="1813459"/>
            <a:ext cx="1529924" cy="252000"/>
          </a:xfrm>
          <a:prstGeom prst="roundRect">
            <a:avLst/>
          </a:prstGeom>
          <a:solidFill>
            <a:srgbClr val="F8F6A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2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>Misinformation Harms</a:t>
            </a:r>
          </a:p>
        </p:txBody>
      </p:sp>
      <p:sp>
        <p:nvSpPr>
          <p:cNvPr id="107" name="APIReqText">
            <a:extLst>
              <a:ext uri="{FF2B5EF4-FFF2-40B4-BE49-F238E27FC236}">
                <a16:creationId xmlns:a16="http://schemas.microsoft.com/office/drawing/2014/main" id="{ECEA0489-070F-B0F7-99B5-0D0CE03F3383}"/>
              </a:ext>
            </a:extLst>
          </p:cNvPr>
          <p:cNvSpPr txBox="1"/>
          <p:nvPr/>
        </p:nvSpPr>
        <p:spPr>
          <a:xfrm>
            <a:off x="9965806" y="1169544"/>
            <a:ext cx="148793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 xml:space="preserve">Predicted </a:t>
            </a:r>
            <a:b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</a:b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>Unsafe Category</a:t>
            </a:r>
            <a:b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</a:b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>+</a:t>
            </a:r>
            <a:b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</a:b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스퀘어_ac ExtraBold" panose="020B0600000101010101" pitchFamily="50" charset="-127"/>
              </a:rPr>
              <a:t>Prompt Engineering</a:t>
            </a: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209462A-9360-008D-1BC9-C8F94D9DE7E4}"/>
              </a:ext>
            </a:extLst>
          </p:cNvPr>
          <p:cNvCxnSpPr>
            <a:cxnSpLocks/>
          </p:cNvCxnSpPr>
          <p:nvPr/>
        </p:nvCxnSpPr>
        <p:spPr>
          <a:xfrm>
            <a:off x="10709771" y="2025148"/>
            <a:ext cx="0" cy="2109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spFmtBox">
            <a:extLst>
              <a:ext uri="{FF2B5EF4-FFF2-40B4-BE49-F238E27FC236}">
                <a16:creationId xmlns:a16="http://schemas.microsoft.com/office/drawing/2014/main" id="{CDD45E9D-F687-84AB-19CB-8205F9FFC3D1}"/>
              </a:ext>
            </a:extLst>
          </p:cNvPr>
          <p:cNvSpPr/>
          <p:nvPr/>
        </p:nvSpPr>
        <p:spPr>
          <a:xfrm>
            <a:off x="1056574" y="4038213"/>
            <a:ext cx="3236060" cy="2479671"/>
          </a:xfrm>
          <a:prstGeom prst="roundRect">
            <a:avLst/>
          </a:prstGeom>
          <a:solidFill>
            <a:srgbClr val="FBFAD1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55" name="FSTitle">
            <a:extLst>
              <a:ext uri="{FF2B5EF4-FFF2-40B4-BE49-F238E27FC236}">
                <a16:creationId xmlns:a16="http://schemas.microsoft.com/office/drawing/2014/main" id="{99EA771E-3607-BB57-EA9C-F287F5D3108E}"/>
              </a:ext>
            </a:extLst>
          </p:cNvPr>
          <p:cNvSpPr txBox="1"/>
          <p:nvPr/>
        </p:nvSpPr>
        <p:spPr>
          <a:xfrm>
            <a:off x="2616759" y="4212680"/>
            <a:ext cx="1533601" cy="2263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b="1" dirty="0">
                <a:solidFill>
                  <a:srgbClr val="555555"/>
                </a:solidFill>
                <a:latin typeface="+mj-lt"/>
                <a:ea typeface="나눔스퀘어_ac ExtraBold" panose="020B0600000101010101" pitchFamily="50" charset="-127"/>
              </a:rPr>
              <a:t>Pre-Clustering</a:t>
            </a:r>
          </a:p>
        </p:txBody>
      </p:sp>
      <p:sp>
        <p:nvSpPr>
          <p:cNvPr id="67" name="CRTitle">
            <a:extLst>
              <a:ext uri="{FF2B5EF4-FFF2-40B4-BE49-F238E27FC236}">
                <a16:creationId xmlns:a16="http://schemas.microsoft.com/office/drawing/2014/main" id="{8C1835BD-2B62-A920-1319-54047A70A09B}"/>
              </a:ext>
            </a:extLst>
          </p:cNvPr>
          <p:cNvSpPr txBox="1"/>
          <p:nvPr/>
        </p:nvSpPr>
        <p:spPr>
          <a:xfrm>
            <a:off x="2676565" y="4453424"/>
            <a:ext cx="1372682" cy="18039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00" b="1" dirty="0">
                <a:solidFill>
                  <a:srgbClr val="555555"/>
                </a:solidFill>
                <a:latin typeface="+mj-lt"/>
                <a:ea typeface="나눔스퀘어_ac ExtraBold" panose="020B0600000101010101" pitchFamily="50" charset="-127"/>
              </a:rPr>
              <a:t>by. Harmful Dataset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F72D538-533E-30E8-0403-7A03E0C2264C}"/>
              </a:ext>
            </a:extLst>
          </p:cNvPr>
          <p:cNvCxnSpPr>
            <a:cxnSpLocks/>
          </p:cNvCxnSpPr>
          <p:nvPr/>
        </p:nvCxnSpPr>
        <p:spPr>
          <a:xfrm>
            <a:off x="4286307" y="5340253"/>
            <a:ext cx="260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spFmtBox">
            <a:extLst>
              <a:ext uri="{FF2B5EF4-FFF2-40B4-BE49-F238E27FC236}">
                <a16:creationId xmlns:a16="http://schemas.microsoft.com/office/drawing/2014/main" id="{93C73148-B7A0-A9C0-D483-61D02BF9461A}"/>
              </a:ext>
            </a:extLst>
          </p:cNvPr>
          <p:cNvSpPr/>
          <p:nvPr/>
        </p:nvSpPr>
        <p:spPr>
          <a:xfrm>
            <a:off x="4546851" y="4023342"/>
            <a:ext cx="7353695" cy="2494542"/>
          </a:xfrm>
          <a:prstGeom prst="roundRect">
            <a:avLst>
              <a:gd name="adj" fmla="val 11257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rtlCol="0" anchor="ctr"/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41" name="Num2">
            <a:extLst>
              <a:ext uri="{FF2B5EF4-FFF2-40B4-BE49-F238E27FC236}">
                <a16:creationId xmlns:a16="http://schemas.microsoft.com/office/drawing/2014/main" id="{28F3604E-EF7B-C7D5-D84C-B9C9BDD51F5C}"/>
              </a:ext>
            </a:extLst>
          </p:cNvPr>
          <p:cNvSpPr/>
          <p:nvPr/>
        </p:nvSpPr>
        <p:spPr>
          <a:xfrm>
            <a:off x="4768834" y="4250556"/>
            <a:ext cx="228600" cy="2286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+mj-lt"/>
                <a:ea typeface="나눔스퀘어_ac ExtraBold" panose="020B0600000101010101" pitchFamily="50" charset="-127"/>
              </a:rPr>
              <a:t>2</a:t>
            </a:r>
          </a:p>
        </p:txBody>
      </p:sp>
      <p:sp>
        <p:nvSpPr>
          <p:cNvPr id="42" name="Sec2Title">
            <a:extLst>
              <a:ext uri="{FF2B5EF4-FFF2-40B4-BE49-F238E27FC236}">
                <a16:creationId xmlns:a16="http://schemas.microsoft.com/office/drawing/2014/main" id="{444F7A50-AF34-54C5-F6CA-85FD3B8B76C6}"/>
              </a:ext>
            </a:extLst>
          </p:cNvPr>
          <p:cNvSpPr txBox="1"/>
          <p:nvPr/>
        </p:nvSpPr>
        <p:spPr>
          <a:xfrm>
            <a:off x="5053764" y="4243730"/>
            <a:ext cx="1313561" cy="21031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b="1" dirty="0" err="1">
                <a:solidFill>
                  <a:srgbClr val="555555"/>
                </a:solidFill>
                <a:latin typeface="+mj-lt"/>
                <a:ea typeface="나눔스퀘어_ac ExtraBold" panose="020B0600000101010101" pitchFamily="50" charset="-127"/>
              </a:rPr>
              <a:t>LoRA</a:t>
            </a:r>
            <a:r>
              <a:rPr lang="en-US" sz="1400" b="1" dirty="0">
                <a:solidFill>
                  <a:srgbClr val="555555"/>
                </a:solidFill>
                <a:latin typeface="+mj-lt"/>
                <a:ea typeface="나눔스퀘어_ac ExtraBold" panose="020B0600000101010101" pitchFamily="50" charset="-127"/>
              </a:rPr>
              <a:t xml:space="preserve"> Adapter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7AD5DE-246B-9E06-D247-97623DC17A12}"/>
                  </a:ext>
                </a:extLst>
              </p:cNvPr>
              <p:cNvSpPr txBox="1"/>
              <p:nvPr/>
            </p:nvSpPr>
            <p:spPr>
              <a:xfrm>
                <a:off x="7534404" y="4386114"/>
                <a:ext cx="3298383" cy="446917"/>
              </a:xfrm>
              <a:prstGeom prst="rect">
                <a:avLst/>
              </a:prstGeom>
              <a:solidFill>
                <a:srgbClr val="FBFAD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b="1" i="1">
                            <a:latin typeface="+mj-lt"/>
                          </a:rPr>
                        </m:ctrlPr>
                      </m:sSubPr>
                      <m:e>
                        <m:r>
                          <a:rPr lang="ko-KR" altLang="en-US" sz="1100" b="1" i="1">
                            <a:latin typeface="+mj-lt"/>
                          </a:rPr>
                          <m:t>𝑳</m:t>
                        </m:r>
                      </m:e>
                      <m:sub>
                        <m:r>
                          <a:rPr lang="en-US" altLang="ko-KR" sz="1100" b="1" i="1" smtClean="0">
                            <a:latin typeface="+mj-lt"/>
                          </a:rPr>
                          <m:t>𝑪𝒓𝒖𝒔𝒉</m:t>
                        </m:r>
                      </m:sub>
                    </m:sSub>
                  </m:oMath>
                </a14:m>
                <a:r>
                  <a:rPr lang="ko-KR" altLang="en-US" sz="1100" b="1" dirty="0">
                    <a:latin typeface="+mj-lt"/>
                    <a:ea typeface="나눔스퀘어 Bold" panose="020B0600000101010101" pitchFamily="50" charset="-127"/>
                  </a:rPr>
                  <a:t xml:space="preserve"> </a:t>
                </a:r>
                <a:r>
                  <a:rPr lang="en-US" altLang="ko-KR" sz="1100" b="1" dirty="0">
                    <a:latin typeface="+mj-lt"/>
                    <a:ea typeface="나눔스퀘어 Bold" panose="020B0600000101010101" pitchFamily="50" charset="-127"/>
                  </a:rPr>
                  <a:t xml:space="preserve"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b="1" i="1">
                            <a:latin typeface="+mj-lt"/>
                          </a:rPr>
                        </m:ctrlPr>
                      </m:sSubPr>
                      <m:e>
                        <m:r>
                          <a:rPr lang="ko-KR" altLang="en-US" sz="1100" b="1" i="1" smtClean="0">
                            <a:latin typeface="+mj-lt"/>
                          </a:rPr>
                          <m:t>𝜶</m:t>
                        </m:r>
                        <m:r>
                          <a:rPr lang="ko-KR" altLang="en-US" sz="1100" b="1" i="1" smtClean="0">
                            <a:latin typeface="+mj-lt"/>
                          </a:rPr>
                          <m:t>∙</m:t>
                        </m:r>
                        <m:r>
                          <a:rPr lang="ko-KR" altLang="en-US" sz="1100" b="1" i="1">
                            <a:latin typeface="+mj-lt"/>
                          </a:rPr>
                          <m:t>𝑳</m:t>
                        </m:r>
                      </m:e>
                      <m:sub>
                        <m:r>
                          <a:rPr lang="ko-KR" altLang="en-US" sz="1100" b="1" i="1">
                            <a:latin typeface="+mj-lt"/>
                          </a:rPr>
                          <m:t>𝑩</m:t>
                        </m:r>
                        <m:r>
                          <a:rPr lang="en-US" altLang="ko-KR" sz="1100" b="1" i="1">
                            <a:latin typeface="+mj-lt"/>
                          </a:rPr>
                          <m:t>𝒆𝒏𝒊𝒈𝒏</m:t>
                        </m:r>
                      </m:sub>
                    </m:sSub>
                  </m:oMath>
                </a14:m>
                <a:r>
                  <a:rPr lang="ko-KR" altLang="en-US" sz="1100" b="1" dirty="0">
                    <a:latin typeface="+mj-lt"/>
                    <a:ea typeface="나눔스퀘어 Bold" panose="020B0600000101010101" pitchFamily="50" charset="-127"/>
                  </a:rPr>
                  <a:t xml:space="preserve"> </a:t>
                </a:r>
                <a:r>
                  <a:rPr lang="en-US" altLang="ko-KR" sz="1100" b="1" dirty="0">
                    <a:latin typeface="+mj-lt"/>
                    <a:ea typeface="나눔스퀘어 Bold" panose="020B0600000101010101" pitchFamily="50" charset="-127"/>
                  </a:rPr>
                  <a:t xml:space="preserve"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b="1" i="1">
                            <a:latin typeface="+mj-lt"/>
                          </a:rPr>
                        </m:ctrlPr>
                      </m:sSubPr>
                      <m:e>
                        <m:r>
                          <a:rPr lang="ko-KR" altLang="en-US" sz="1100" b="1" i="1" smtClean="0">
                            <a:latin typeface="+mj-lt"/>
                          </a:rPr>
                          <m:t>𝜷</m:t>
                        </m:r>
                        <m:r>
                          <a:rPr lang="ko-KR" altLang="en-US" sz="1100" b="1" i="1" smtClean="0">
                            <a:latin typeface="+mj-lt"/>
                          </a:rPr>
                          <m:t>∙</m:t>
                        </m:r>
                        <m:r>
                          <a:rPr lang="ko-KR" altLang="en-US" sz="1100" b="1" i="1">
                            <a:latin typeface="+mj-lt"/>
                          </a:rPr>
                          <m:t>𝑳</m:t>
                        </m:r>
                      </m:e>
                      <m:sub>
                        <m:r>
                          <a:rPr lang="en-US" altLang="ko-KR" sz="1100" b="1" i="1">
                            <a:latin typeface="+mj-lt"/>
                          </a:rPr>
                          <m:t>𝑷𝒖𝒍𝒍</m:t>
                        </m:r>
                      </m:sub>
                    </m:sSub>
                  </m:oMath>
                </a14:m>
                <a:r>
                  <a:rPr lang="ko-KR" altLang="en-US" sz="1100" b="1" dirty="0">
                    <a:latin typeface="+mj-lt"/>
                    <a:ea typeface="나눔스퀘어 Bold" panose="020B0600000101010101" pitchFamily="50" charset="-127"/>
                  </a:rPr>
                  <a:t xml:space="preserve"> </a:t>
                </a:r>
                <a:r>
                  <a:rPr lang="en-US" altLang="ko-KR" sz="1100" b="1" dirty="0">
                    <a:latin typeface="+mj-lt"/>
                    <a:ea typeface="나눔스퀘어 Bold" panose="020B0600000101010101" pitchFamily="50" charset="-127"/>
                  </a:rPr>
                  <a:t xml:space="preserve"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b="1" i="1">
                            <a:latin typeface="+mj-lt"/>
                          </a:rPr>
                        </m:ctrlPr>
                      </m:sSubPr>
                      <m:e>
                        <m:r>
                          <a:rPr lang="ko-KR" altLang="en-US" sz="1100" b="1" i="1" smtClean="0">
                            <a:latin typeface="+mj-lt"/>
                          </a:rPr>
                          <m:t>𝜸</m:t>
                        </m:r>
                        <m:r>
                          <a:rPr lang="ko-KR" altLang="en-US" sz="1100" b="1" i="1" smtClean="0">
                            <a:latin typeface="+mj-lt"/>
                          </a:rPr>
                          <m:t>∙</m:t>
                        </m:r>
                        <m:r>
                          <a:rPr lang="ko-KR" altLang="en-US" sz="1100" b="1" i="1">
                            <a:latin typeface="+mj-lt"/>
                          </a:rPr>
                          <m:t>𝑳</m:t>
                        </m:r>
                      </m:e>
                      <m:sub>
                        <m:r>
                          <a:rPr lang="en-US" altLang="ko-KR" sz="1100" b="1" i="1">
                            <a:latin typeface="+mj-lt"/>
                          </a:rPr>
                          <m:t>𝑷𝒖𝒔𝒉</m:t>
                        </m:r>
                      </m:sub>
                    </m:sSub>
                    <m:r>
                      <a:rPr lang="en-US" altLang="ko-KR" sz="1100" b="1" i="1" smtClean="0">
                        <a:latin typeface="+mj-lt"/>
                      </a:rPr>
                      <m:t>+</m:t>
                    </m:r>
                  </m:oMath>
                </a14:m>
                <a:r>
                  <a:rPr lang="ko-KR" altLang="en-US" sz="1100" b="1" dirty="0">
                    <a:latin typeface="+mj-lt"/>
                    <a:ea typeface="나눔스퀘어 Bold" panose="020B0600000101010101" pitchFamily="50" charset="-127"/>
                  </a:rPr>
                  <a:t xml:space="preserve"> </a:t>
                </a:r>
                <a14:m>
                  <m:oMath xmlns:m="http://schemas.openxmlformats.org/officeDocument/2006/math">
                    <m:r>
                      <a:rPr lang="el-GR" altLang="ko-KR" sz="1100" b="1" i="1" smtClean="0">
                        <a:latin typeface="+mj-lt"/>
                        <a:ea typeface="Cambria Math" panose="02040503050406030204" pitchFamily="18" charset="0"/>
                      </a:rPr>
                      <m:t>𝜺</m:t>
                    </m:r>
                    <m:r>
                      <a:rPr lang="el-GR" altLang="ko-KR" sz="1100" b="1" i="1" smtClean="0">
                        <a:latin typeface="+mj-lt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ko-KR" altLang="en-US" sz="1100" b="1" i="1">
                            <a:latin typeface="+mj-lt"/>
                          </a:rPr>
                        </m:ctrlPr>
                      </m:sSubPr>
                      <m:e>
                        <m:r>
                          <a:rPr lang="ko-KR" altLang="en-US" sz="1100" b="1" i="1">
                            <a:latin typeface="+mj-lt"/>
                          </a:rPr>
                          <m:t>𝑳</m:t>
                        </m:r>
                      </m:e>
                      <m:sub>
                        <m:r>
                          <a:rPr lang="en-US" altLang="ko-KR" sz="1100" b="1" i="1">
                            <a:latin typeface="+mj-lt"/>
                          </a:rPr>
                          <m:t>𝑲𝑳</m:t>
                        </m:r>
                      </m:sub>
                    </m:sSub>
                  </m:oMath>
                </a14:m>
                <a:endParaRPr lang="ko-KR" altLang="en-US" sz="1100" b="1" dirty="0">
                  <a:latin typeface="+mj-lt"/>
                  <a:ea typeface="나눔스퀘어 Bold" panose="020B0600000101010101" pitchFamily="50" charset="-127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7AD5DE-246B-9E06-D247-97623DC17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404" y="4386114"/>
                <a:ext cx="3298383" cy="446917"/>
              </a:xfrm>
              <a:prstGeom prst="rect">
                <a:avLst/>
              </a:prstGeom>
              <a:blipFill>
                <a:blip r:embed="rId3"/>
                <a:stretch>
                  <a:fillRect t="-13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argetBox">
            <a:extLst>
              <a:ext uri="{FF2B5EF4-FFF2-40B4-BE49-F238E27FC236}">
                <a16:creationId xmlns:a16="http://schemas.microsoft.com/office/drawing/2014/main" id="{E12D8CED-A885-E64D-83F2-3B4A55F9586B}"/>
              </a:ext>
            </a:extLst>
          </p:cNvPr>
          <p:cNvSpPr/>
          <p:nvPr/>
        </p:nvSpPr>
        <p:spPr>
          <a:xfrm>
            <a:off x="1137960" y="4661446"/>
            <a:ext cx="3073288" cy="171395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9B896"/>
            </a:solidFill>
          </a:ln>
        </p:spPr>
        <p:txBody>
          <a:bodyPr rtlCol="0" anchor="ctr"/>
          <a:lstStyle/>
          <a:p>
            <a:pPr algn="ctr"/>
            <a:endParaRPr lang="en-US" sz="1100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31" name="CRTitle">
            <a:extLst>
              <a:ext uri="{FF2B5EF4-FFF2-40B4-BE49-F238E27FC236}">
                <a16:creationId xmlns:a16="http://schemas.microsoft.com/office/drawing/2014/main" id="{EC4DDF36-86BB-20DB-9546-F98172BB923B}"/>
              </a:ext>
            </a:extLst>
          </p:cNvPr>
          <p:cNvSpPr txBox="1"/>
          <p:nvPr/>
        </p:nvSpPr>
        <p:spPr>
          <a:xfrm>
            <a:off x="1121011" y="5948717"/>
            <a:ext cx="1372682" cy="30027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00" b="1" dirty="0">
                <a:latin typeface="+mj-lt"/>
                <a:ea typeface="나눔스퀘어_ac ExtraBold" panose="020B0600000101010101" pitchFamily="50" charset="-127"/>
              </a:rPr>
              <a:t>2) Extract Cluster</a:t>
            </a:r>
            <a:br>
              <a:rPr lang="en-US" sz="1000" b="1" dirty="0">
                <a:latin typeface="+mj-lt"/>
                <a:ea typeface="나눔스퀘어_ac ExtraBold" panose="020B0600000101010101" pitchFamily="50" charset="-127"/>
              </a:rPr>
            </a:br>
            <a:r>
              <a:rPr lang="en-US" sz="1000" b="1" dirty="0">
                <a:latin typeface="+mj-lt"/>
                <a:ea typeface="나눔스퀘어_ac ExtraBold" panose="020B0600000101010101" pitchFamily="50" charset="-127"/>
              </a:rPr>
              <a:t xml:space="preserve"> Layer Hidden</a:t>
            </a:r>
          </a:p>
        </p:txBody>
      </p:sp>
      <p:sp>
        <p:nvSpPr>
          <p:cNvPr id="36" name="CRTitle">
            <a:extLst>
              <a:ext uri="{FF2B5EF4-FFF2-40B4-BE49-F238E27FC236}">
                <a16:creationId xmlns:a16="http://schemas.microsoft.com/office/drawing/2014/main" id="{FDB03BED-12FF-BD49-AA2D-CA23FE0235DB}"/>
              </a:ext>
            </a:extLst>
          </p:cNvPr>
          <p:cNvSpPr txBox="1"/>
          <p:nvPr/>
        </p:nvSpPr>
        <p:spPr>
          <a:xfrm>
            <a:off x="1272490" y="4812256"/>
            <a:ext cx="1042496" cy="164179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00" b="1" dirty="0">
                <a:latin typeface="+mj-lt"/>
                <a:ea typeface="나눔스퀘어_ac ExtraBold" panose="020B0600000101010101" pitchFamily="50" charset="-127"/>
              </a:rPr>
              <a:t>1) Base Model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2F3D4CC-9CDE-5B5A-980A-F33C64994393}"/>
              </a:ext>
            </a:extLst>
          </p:cNvPr>
          <p:cNvGrpSpPr/>
          <p:nvPr/>
        </p:nvGrpSpPr>
        <p:grpSpPr>
          <a:xfrm>
            <a:off x="2616758" y="4950190"/>
            <a:ext cx="1502605" cy="1149752"/>
            <a:chOff x="5489453" y="5014367"/>
            <a:chExt cx="1128835" cy="810399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59895437-F5F8-36B5-A631-4A904908B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9" t="12611" r="12308" b="11166"/>
            <a:stretch>
              <a:fillRect/>
            </a:stretch>
          </p:blipFill>
          <p:spPr>
            <a:xfrm>
              <a:off x="5489453" y="5014367"/>
              <a:ext cx="1128688" cy="810399"/>
            </a:xfrm>
            <a:prstGeom prst="rect">
              <a:avLst/>
            </a:prstGeom>
          </p:spPr>
        </p:pic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436E124-7F41-F7D1-0B16-ADB39DF055A4}"/>
                </a:ext>
              </a:extLst>
            </p:cNvPr>
            <p:cNvSpPr/>
            <p:nvPr/>
          </p:nvSpPr>
          <p:spPr>
            <a:xfrm>
              <a:off x="6513513" y="5370513"/>
              <a:ext cx="104775" cy="66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525831D-05D3-168D-6972-D010534CDBEE}"/>
              </a:ext>
            </a:extLst>
          </p:cNvPr>
          <p:cNvGrpSpPr/>
          <p:nvPr/>
        </p:nvGrpSpPr>
        <p:grpSpPr>
          <a:xfrm>
            <a:off x="1434287" y="5202955"/>
            <a:ext cx="849629" cy="684552"/>
            <a:chOff x="3901725" y="5047716"/>
            <a:chExt cx="694844" cy="54469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C0AA871D-9C6F-AEA3-56FF-AEF671CFC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50" t="26085" r="35809" b="28703"/>
            <a:stretch>
              <a:fillRect/>
            </a:stretch>
          </p:blipFill>
          <p:spPr>
            <a:xfrm>
              <a:off x="3901725" y="5047716"/>
              <a:ext cx="598902" cy="544693"/>
            </a:xfrm>
            <a:prstGeom prst="rect">
              <a:avLst/>
            </a:prstGeom>
          </p:spPr>
        </p:pic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EB303E43-87D5-A660-388D-40F4113AC0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352" y="5369862"/>
              <a:ext cx="167217" cy="14605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CRTitle">
            <a:extLst>
              <a:ext uri="{FF2B5EF4-FFF2-40B4-BE49-F238E27FC236}">
                <a16:creationId xmlns:a16="http://schemas.microsoft.com/office/drawing/2014/main" id="{E796C8F4-5E86-83A6-E515-9063E340C1CC}"/>
              </a:ext>
            </a:extLst>
          </p:cNvPr>
          <p:cNvSpPr txBox="1"/>
          <p:nvPr/>
        </p:nvSpPr>
        <p:spPr>
          <a:xfrm>
            <a:off x="2689104" y="4746923"/>
            <a:ext cx="1331502" cy="202303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00" b="1" dirty="0">
                <a:latin typeface="+mj-lt"/>
                <a:ea typeface="나눔스퀘어_ac ExtraBold" panose="020B0600000101010101" pitchFamily="50" charset="-127"/>
              </a:rPr>
              <a:t>3) K-Means (k=5)</a:t>
            </a:r>
          </a:p>
        </p:txBody>
      </p:sp>
      <p:sp>
        <p:nvSpPr>
          <p:cNvPr id="49" name="CRTitle">
            <a:extLst>
              <a:ext uri="{FF2B5EF4-FFF2-40B4-BE49-F238E27FC236}">
                <a16:creationId xmlns:a16="http://schemas.microsoft.com/office/drawing/2014/main" id="{91DF0528-B396-7D79-1F40-A11BC38E2D14}"/>
              </a:ext>
            </a:extLst>
          </p:cNvPr>
          <p:cNvSpPr txBox="1"/>
          <p:nvPr/>
        </p:nvSpPr>
        <p:spPr>
          <a:xfrm>
            <a:off x="2654109" y="6058053"/>
            <a:ext cx="1372682" cy="30027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00" b="1" dirty="0">
                <a:latin typeface="+mj-lt"/>
                <a:ea typeface="나눔스퀘어_ac ExtraBold" panose="020B0600000101010101" pitchFamily="50" charset="-127"/>
              </a:rPr>
              <a:t>Fixed k=5 centroids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EB77F77-8FE1-ED80-A8A6-7BC92A48AA72}"/>
              </a:ext>
            </a:extLst>
          </p:cNvPr>
          <p:cNvCxnSpPr>
            <a:cxnSpLocks/>
          </p:cNvCxnSpPr>
          <p:nvPr/>
        </p:nvCxnSpPr>
        <p:spPr>
          <a:xfrm>
            <a:off x="1809258" y="5006441"/>
            <a:ext cx="0" cy="1719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943D1EC-2176-1F35-D0A5-54DD4C24B3D5}"/>
              </a:ext>
            </a:extLst>
          </p:cNvPr>
          <p:cNvCxnSpPr>
            <a:cxnSpLocks/>
          </p:cNvCxnSpPr>
          <p:nvPr/>
        </p:nvCxnSpPr>
        <p:spPr>
          <a:xfrm>
            <a:off x="2357136" y="5475620"/>
            <a:ext cx="25962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B2F30BCF-34B9-8D4F-04F3-2586F544689B}"/>
              </a:ext>
            </a:extLst>
          </p:cNvPr>
          <p:cNvGrpSpPr/>
          <p:nvPr/>
        </p:nvGrpSpPr>
        <p:grpSpPr>
          <a:xfrm>
            <a:off x="1230282" y="4239779"/>
            <a:ext cx="1310368" cy="319497"/>
            <a:chOff x="3457535" y="5144181"/>
            <a:chExt cx="1463039" cy="453044"/>
          </a:xfrm>
        </p:grpSpPr>
        <p:sp>
          <p:nvSpPr>
            <p:cNvPr id="47" name="TargetBox">
              <a:extLst>
                <a:ext uri="{FF2B5EF4-FFF2-40B4-BE49-F238E27FC236}">
                  <a16:creationId xmlns:a16="http://schemas.microsoft.com/office/drawing/2014/main" id="{4C9373C5-4EEF-DAAB-DA1B-72251D4DE0B0}"/>
                </a:ext>
              </a:extLst>
            </p:cNvPr>
            <p:cNvSpPr/>
            <p:nvPr/>
          </p:nvSpPr>
          <p:spPr>
            <a:xfrm>
              <a:off x="3457535" y="5144181"/>
              <a:ext cx="1463039" cy="453044"/>
            </a:xfrm>
            <a:prstGeom prst="roundRect">
              <a:avLst/>
            </a:prstGeom>
            <a:solidFill>
              <a:srgbClr val="F0E6D6"/>
            </a:solidFill>
            <a:ln w="12700">
              <a:solidFill>
                <a:srgbClr val="C9B896"/>
              </a:solidFill>
            </a:ln>
          </p:spPr>
          <p:txBody>
            <a:bodyPr rtlCol="0" anchor="ctr"/>
            <a:lstStyle/>
            <a:p>
              <a:pPr algn="ctr"/>
              <a:endParaRPr lang="en-US" sz="1200" dirty="0">
                <a:latin typeface="+mj-lt"/>
                <a:ea typeface="나눔스퀘어_ac ExtraBold" panose="020B0600000101010101" pitchFamily="50" charset="-127"/>
              </a:endParaRPr>
            </a:p>
          </p:txBody>
        </p:sp>
        <p:sp>
          <p:nvSpPr>
            <p:cNvPr id="48" name="TargetText">
              <a:extLst>
                <a:ext uri="{FF2B5EF4-FFF2-40B4-BE49-F238E27FC236}">
                  <a16:creationId xmlns:a16="http://schemas.microsoft.com/office/drawing/2014/main" id="{0A34133A-98E2-EF0E-FBED-3F2C39F3E869}"/>
                </a:ext>
              </a:extLst>
            </p:cNvPr>
            <p:cNvSpPr txBox="1"/>
            <p:nvPr/>
          </p:nvSpPr>
          <p:spPr>
            <a:xfrm>
              <a:off x="3603518" y="5220770"/>
              <a:ext cx="1171072" cy="2590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18288" rIns="36576" bIns="18288" rtlCol="0" anchor="ctr"/>
            <a:lstStyle/>
            <a:p>
              <a:pPr algn="ctr"/>
              <a:r>
                <a:rPr lang="en-US" sz="1000" b="1" dirty="0">
                  <a:solidFill>
                    <a:srgbClr val="333333"/>
                  </a:solidFill>
                  <a:latin typeface="+mj-lt"/>
                  <a:ea typeface="나눔스퀘어_ac ExtraBold" panose="020B0600000101010101" pitchFamily="50" charset="-127"/>
                </a:rPr>
                <a:t xml:space="preserve">Target Layer </a:t>
              </a:r>
              <a:r>
                <a:rPr lang="en-US" sz="1000" b="1" i="1" dirty="0">
                  <a:solidFill>
                    <a:srgbClr val="333333"/>
                  </a:solidFill>
                  <a:latin typeface="+mj-lt"/>
                  <a:ea typeface="나눔스퀘어_ac ExtraBold" panose="020B0600000101010101" pitchFamily="50" charset="-127"/>
                </a:rPr>
                <a:t>N</a:t>
              </a:r>
            </a:p>
          </p:txBody>
        </p:sp>
      </p:grpSp>
      <p:pic>
        <p:nvPicPr>
          <p:cNvPr id="84" name="그림 83">
            <a:extLst>
              <a:ext uri="{FF2B5EF4-FFF2-40B4-BE49-F238E27FC236}">
                <a16:creationId xmlns:a16="http://schemas.microsoft.com/office/drawing/2014/main" id="{ACE67338-ACE4-D3EC-41E7-B89A2CAA83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9007"/>
          <a:stretch>
            <a:fillRect/>
          </a:stretch>
        </p:blipFill>
        <p:spPr>
          <a:xfrm>
            <a:off x="4621911" y="4629023"/>
            <a:ext cx="1394298" cy="13311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BD0F64-9D2F-3E82-622F-BF46A446E3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42993" y="4776379"/>
            <a:ext cx="1545424" cy="125678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B1CD8D8-9292-A130-BB2D-2D52330290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45755" y="4187178"/>
            <a:ext cx="827377" cy="1804048"/>
          </a:xfrm>
          <a:prstGeom prst="rect">
            <a:avLst/>
          </a:prstGeom>
        </p:spPr>
      </p:pic>
      <p:sp>
        <p:nvSpPr>
          <p:cNvPr id="19" name="CRTitle">
            <a:extLst>
              <a:ext uri="{FF2B5EF4-FFF2-40B4-BE49-F238E27FC236}">
                <a16:creationId xmlns:a16="http://schemas.microsoft.com/office/drawing/2014/main" id="{5CF975BF-D693-600E-8833-D0033193F04E}"/>
              </a:ext>
            </a:extLst>
          </p:cNvPr>
          <p:cNvSpPr txBox="1"/>
          <p:nvPr/>
        </p:nvSpPr>
        <p:spPr>
          <a:xfrm>
            <a:off x="4768834" y="6108142"/>
            <a:ext cx="2831889" cy="25018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50" b="1" dirty="0">
                <a:latin typeface="+mj-lt"/>
                <a:ea typeface="나눔스퀘어_ac ExtraBold" panose="020B0600000101010101" pitchFamily="50" charset="-127"/>
              </a:rPr>
              <a:t>1) Distance Calculation (Centroid-Based)</a:t>
            </a:r>
          </a:p>
        </p:txBody>
      </p:sp>
      <p:sp>
        <p:nvSpPr>
          <p:cNvPr id="23" name="CRTitle">
            <a:extLst>
              <a:ext uri="{FF2B5EF4-FFF2-40B4-BE49-F238E27FC236}">
                <a16:creationId xmlns:a16="http://schemas.microsoft.com/office/drawing/2014/main" id="{7A24E64A-88EA-9875-E3DE-5CC75B43E365}"/>
              </a:ext>
            </a:extLst>
          </p:cNvPr>
          <p:cNvSpPr txBox="1"/>
          <p:nvPr/>
        </p:nvSpPr>
        <p:spPr>
          <a:xfrm>
            <a:off x="7743842" y="6108142"/>
            <a:ext cx="2831889" cy="25018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50" b="1" dirty="0">
                <a:latin typeface="+mj-lt"/>
                <a:ea typeface="나눔스퀘어_ac ExtraBold" panose="020B0600000101010101" pitchFamily="50" charset="-127"/>
              </a:rPr>
              <a:t>2) Loss Composition / Formulation</a:t>
            </a:r>
          </a:p>
        </p:txBody>
      </p:sp>
      <p:sp>
        <p:nvSpPr>
          <p:cNvPr id="24" name="CRTitle">
            <a:extLst>
              <a:ext uri="{FF2B5EF4-FFF2-40B4-BE49-F238E27FC236}">
                <a16:creationId xmlns:a16="http://schemas.microsoft.com/office/drawing/2014/main" id="{62ABCF69-791F-A314-16FA-413E04D57A45}"/>
              </a:ext>
            </a:extLst>
          </p:cNvPr>
          <p:cNvSpPr txBox="1"/>
          <p:nvPr/>
        </p:nvSpPr>
        <p:spPr>
          <a:xfrm>
            <a:off x="10818974" y="6108142"/>
            <a:ext cx="1067173" cy="220711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50" b="1" dirty="0">
                <a:latin typeface="+mj-lt"/>
                <a:ea typeface="나눔스퀘어_ac ExtraBold" panose="020B0600000101010101" pitchFamily="50" charset="-127"/>
              </a:rPr>
              <a:t>3) Backprop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97A7C9E9-9468-78FB-D9E9-E9E4D6120C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322611">
            <a:off x="9937702" y="1964007"/>
            <a:ext cx="476412" cy="476412"/>
          </a:xfrm>
          <a:prstGeom prst="rect">
            <a:avLst/>
          </a:prstGeom>
        </p:spPr>
      </p:pic>
      <p:sp>
        <p:nvSpPr>
          <p:cNvPr id="43" name="UILabel">
            <a:extLst>
              <a:ext uri="{FF2B5EF4-FFF2-40B4-BE49-F238E27FC236}">
                <a16:creationId xmlns:a16="http://schemas.microsoft.com/office/drawing/2014/main" id="{842ED018-89CC-6C44-155C-FC55F59B9943}"/>
              </a:ext>
            </a:extLst>
          </p:cNvPr>
          <p:cNvSpPr txBox="1"/>
          <p:nvPr/>
        </p:nvSpPr>
        <p:spPr>
          <a:xfrm>
            <a:off x="1488050" y="2206638"/>
            <a:ext cx="1463040" cy="228600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200" b="1" i="1" dirty="0">
                <a:solidFill>
                  <a:srgbClr val="333333"/>
                </a:solidFill>
                <a:latin typeface="+mj-lt"/>
                <a:ea typeface="나눔스퀘어_ac ExtraBold" panose="020B0600000101010101" pitchFamily="50" charset="-127"/>
              </a:rPr>
              <a:t>prompt text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BEB07AF-E6AB-B2E7-23CB-B6E735B6F5EC}"/>
              </a:ext>
            </a:extLst>
          </p:cNvPr>
          <p:cNvCxnSpPr>
            <a:cxnSpLocks/>
          </p:cNvCxnSpPr>
          <p:nvPr/>
        </p:nvCxnSpPr>
        <p:spPr>
          <a:xfrm>
            <a:off x="2234020" y="2551244"/>
            <a:ext cx="0" cy="65343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APIReqText">
            <a:extLst>
              <a:ext uri="{FF2B5EF4-FFF2-40B4-BE49-F238E27FC236}">
                <a16:creationId xmlns:a16="http://schemas.microsoft.com/office/drawing/2014/main" id="{26A0EE77-AFAF-EE1F-511E-5DCDDA9C34CC}"/>
              </a:ext>
            </a:extLst>
          </p:cNvPr>
          <p:cNvSpPr txBox="1"/>
          <p:nvPr/>
        </p:nvSpPr>
        <p:spPr>
          <a:xfrm>
            <a:off x="9980116" y="2326068"/>
            <a:ext cx="1487930" cy="37944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j-lt"/>
                <a:ea typeface="나눔스퀘어_ac ExtraBold" panose="020B0600000101010101" pitchFamily="50" charset="-127"/>
              </a:rPr>
              <a:t>Final Response</a:t>
            </a:r>
          </a:p>
        </p:txBody>
      </p:sp>
      <p:sp>
        <p:nvSpPr>
          <p:cNvPr id="90" name="자유형: 도형 89">
            <a:extLst>
              <a:ext uri="{FF2B5EF4-FFF2-40B4-BE49-F238E27FC236}">
                <a16:creationId xmlns:a16="http://schemas.microsoft.com/office/drawing/2014/main" id="{2A677B1B-72CA-6533-E7FE-7F81795727D0}"/>
              </a:ext>
            </a:extLst>
          </p:cNvPr>
          <p:cNvSpPr/>
          <p:nvPr/>
        </p:nvSpPr>
        <p:spPr>
          <a:xfrm>
            <a:off x="6702143" y="773698"/>
            <a:ext cx="2821942" cy="306080"/>
          </a:xfrm>
          <a:custGeom>
            <a:avLst/>
            <a:gdLst>
              <a:gd name="csX0" fmla="*/ 344482 w 2821942"/>
              <a:gd name="csY0" fmla="*/ 0 h 333839"/>
              <a:gd name="csX1" fmla="*/ 2477460 w 2821942"/>
              <a:gd name="csY1" fmla="*/ 0 h 333839"/>
              <a:gd name="csX2" fmla="*/ 2816112 w 2821942"/>
              <a:gd name="csY2" fmla="*/ 276010 h 333839"/>
              <a:gd name="csX3" fmla="*/ 2821942 w 2821942"/>
              <a:gd name="csY3" fmla="*/ 333839 h 333839"/>
              <a:gd name="csX4" fmla="*/ 0 w 2821942"/>
              <a:gd name="csY4" fmla="*/ 333839 h 333839"/>
              <a:gd name="csX5" fmla="*/ 5830 w 2821942"/>
              <a:gd name="csY5" fmla="*/ 276010 h 333839"/>
              <a:gd name="csX6" fmla="*/ 344482 w 2821942"/>
              <a:gd name="csY6" fmla="*/ 0 h 3338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821942" h="333839">
                <a:moveTo>
                  <a:pt x="344482" y="0"/>
                </a:moveTo>
                <a:lnTo>
                  <a:pt x="2477460" y="0"/>
                </a:lnTo>
                <a:cubicBezTo>
                  <a:pt x="2644507" y="0"/>
                  <a:pt x="2783879" y="118491"/>
                  <a:pt x="2816112" y="276010"/>
                </a:cubicBezTo>
                <a:lnTo>
                  <a:pt x="2821942" y="333839"/>
                </a:lnTo>
                <a:lnTo>
                  <a:pt x="0" y="333839"/>
                </a:lnTo>
                <a:lnTo>
                  <a:pt x="5830" y="276010"/>
                </a:lnTo>
                <a:cubicBezTo>
                  <a:pt x="38063" y="118491"/>
                  <a:pt x="177435" y="0"/>
                  <a:pt x="344482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2700">
            <a:solidFill>
              <a:srgbClr val="BBBBBB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8CD83369-B3D4-E9B4-6F5D-E95188A34595}"/>
              </a:ext>
            </a:extLst>
          </p:cNvPr>
          <p:cNvSpPr/>
          <p:nvPr/>
        </p:nvSpPr>
        <p:spPr>
          <a:xfrm>
            <a:off x="9798993" y="757838"/>
            <a:ext cx="1800255" cy="321939"/>
          </a:xfrm>
          <a:custGeom>
            <a:avLst/>
            <a:gdLst>
              <a:gd name="csX0" fmla="*/ 300049 w 1800255"/>
              <a:gd name="csY0" fmla="*/ 0 h 321939"/>
              <a:gd name="csX1" fmla="*/ 1500206 w 1800255"/>
              <a:gd name="csY1" fmla="*/ 0 h 321939"/>
              <a:gd name="csX2" fmla="*/ 1800255 w 1800255"/>
              <a:gd name="csY2" fmla="*/ 300049 h 321939"/>
              <a:gd name="csX3" fmla="*/ 1800255 w 1800255"/>
              <a:gd name="csY3" fmla="*/ 321939 h 321939"/>
              <a:gd name="csX4" fmla="*/ 0 w 1800255"/>
              <a:gd name="csY4" fmla="*/ 321939 h 321939"/>
              <a:gd name="csX5" fmla="*/ 0 w 1800255"/>
              <a:gd name="csY5" fmla="*/ 300049 h 321939"/>
              <a:gd name="csX6" fmla="*/ 300049 w 1800255"/>
              <a:gd name="csY6" fmla="*/ 0 h 3219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00255" h="321939">
                <a:moveTo>
                  <a:pt x="300049" y="0"/>
                </a:moveTo>
                <a:lnTo>
                  <a:pt x="1500206" y="0"/>
                </a:lnTo>
                <a:cubicBezTo>
                  <a:pt x="1665918" y="0"/>
                  <a:pt x="1800255" y="134337"/>
                  <a:pt x="1800255" y="300049"/>
                </a:cubicBezTo>
                <a:lnTo>
                  <a:pt x="1800255" y="321939"/>
                </a:lnTo>
                <a:lnTo>
                  <a:pt x="0" y="321939"/>
                </a:lnTo>
                <a:lnTo>
                  <a:pt x="0" y="300049"/>
                </a:lnTo>
                <a:cubicBezTo>
                  <a:pt x="0" y="134337"/>
                  <a:pt x="134337" y="0"/>
                  <a:pt x="300049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2700">
            <a:solidFill>
              <a:srgbClr val="BBBBBB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highlight>
                <a:srgbClr val="FF9966"/>
              </a:highlight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78" name="RespFmtTitle">
            <a:extLst>
              <a:ext uri="{FF2B5EF4-FFF2-40B4-BE49-F238E27FC236}">
                <a16:creationId xmlns:a16="http://schemas.microsoft.com/office/drawing/2014/main" id="{E4275BAA-62A9-2D1E-0977-8D474164074E}"/>
              </a:ext>
            </a:extLst>
          </p:cNvPr>
          <p:cNvSpPr txBox="1"/>
          <p:nvPr/>
        </p:nvSpPr>
        <p:spPr>
          <a:xfrm>
            <a:off x="9965806" y="749183"/>
            <a:ext cx="1533861" cy="301489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b="1" dirty="0">
                <a:latin typeface="+mj-lt"/>
                <a:ea typeface="나눔스퀘어_ac ExtraBold" panose="020B0600000101010101" pitchFamily="50" charset="-127"/>
              </a:rPr>
              <a:t>Response</a:t>
            </a:r>
          </a:p>
        </p:txBody>
      </p:sp>
      <p:sp>
        <p:nvSpPr>
          <p:cNvPr id="77" name="ToxCatTitle">
            <a:extLst>
              <a:ext uri="{FF2B5EF4-FFF2-40B4-BE49-F238E27FC236}">
                <a16:creationId xmlns:a16="http://schemas.microsoft.com/office/drawing/2014/main" id="{70ACBFB0-83BC-9EB4-6E6E-7D800F4225A9}"/>
              </a:ext>
            </a:extLst>
          </p:cNvPr>
          <p:cNvSpPr txBox="1"/>
          <p:nvPr/>
        </p:nvSpPr>
        <p:spPr>
          <a:xfrm>
            <a:off x="7283091" y="825675"/>
            <a:ext cx="1709764" cy="188013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400" b="1" dirty="0">
                <a:latin typeface="+mj-lt"/>
                <a:ea typeface="나눔스퀘어_ac ExtraBold" panose="020B0600000101010101" pitchFamily="50" charset="-127"/>
              </a:rPr>
              <a:t>Unsafe Categories</a:t>
            </a:r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92B66E22-F6E7-C403-E1CD-816A3194EE2F}"/>
              </a:ext>
            </a:extLst>
          </p:cNvPr>
          <p:cNvSpPr/>
          <p:nvPr/>
        </p:nvSpPr>
        <p:spPr>
          <a:xfrm>
            <a:off x="3890000" y="1100262"/>
            <a:ext cx="1550000" cy="315324"/>
          </a:xfrm>
          <a:custGeom>
            <a:avLst/>
            <a:gdLst>
              <a:gd name="csX0" fmla="*/ 240005 w 2160000"/>
              <a:gd name="csY0" fmla="*/ 0 h 315324"/>
              <a:gd name="csX1" fmla="*/ 1919995 w 2160000"/>
              <a:gd name="csY1" fmla="*/ 0 h 315324"/>
              <a:gd name="csX2" fmla="*/ 2160000 w 2160000"/>
              <a:gd name="csY2" fmla="*/ 240005 h 315324"/>
              <a:gd name="csX3" fmla="*/ 2160000 w 2160000"/>
              <a:gd name="csY3" fmla="*/ 315324 h 315324"/>
              <a:gd name="csX4" fmla="*/ 0 w 2160000"/>
              <a:gd name="csY4" fmla="*/ 315324 h 315324"/>
              <a:gd name="csX5" fmla="*/ 0 w 2160000"/>
              <a:gd name="csY5" fmla="*/ 240005 h 315324"/>
              <a:gd name="csX6" fmla="*/ 240005 w 2160000"/>
              <a:gd name="csY6" fmla="*/ 0 h 315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160000" h="315324">
                <a:moveTo>
                  <a:pt x="240005" y="0"/>
                </a:moveTo>
                <a:lnTo>
                  <a:pt x="1919995" y="0"/>
                </a:lnTo>
                <a:cubicBezTo>
                  <a:pt x="2052546" y="0"/>
                  <a:pt x="2160000" y="107454"/>
                  <a:pt x="2160000" y="240005"/>
                </a:cubicBezTo>
                <a:lnTo>
                  <a:pt x="2160000" y="315324"/>
                </a:lnTo>
                <a:lnTo>
                  <a:pt x="0" y="315324"/>
                </a:ln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BBBBBB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16" name="FastAPILabel">
            <a:extLst>
              <a:ext uri="{FF2B5EF4-FFF2-40B4-BE49-F238E27FC236}">
                <a16:creationId xmlns:a16="http://schemas.microsoft.com/office/drawing/2014/main" id="{8B52D701-0B47-0596-22D5-DC14E45213C0}"/>
              </a:ext>
            </a:extLst>
          </p:cNvPr>
          <p:cNvSpPr txBox="1"/>
          <p:nvPr/>
        </p:nvSpPr>
        <p:spPr>
          <a:xfrm>
            <a:off x="3970000" y="116648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333333"/>
                </a:solidFill>
                <a:highlight>
                  <a:srgbClr val="F9D9E8"/>
                </a:highlight>
                <a:latin typeface="+mj-lt"/>
                <a:ea typeface="나눔스퀘어_ac ExtraBold" panose="020B0600000101010101" pitchFamily="50" charset="-127"/>
              </a:rPr>
              <a:t>fastAPI</a:t>
            </a:r>
          </a:p>
        </p:txBody>
      </p:sp>
      <p:sp>
        <p:nvSpPr>
          <p:cNvPr id="118" name="자유형: 도형 117">
            <a:extLst>
              <a:ext uri="{FF2B5EF4-FFF2-40B4-BE49-F238E27FC236}">
                <a16:creationId xmlns:a16="http://schemas.microsoft.com/office/drawing/2014/main" id="{59CB07A6-CC9A-8D7A-B652-2BB4CF07F0A5}"/>
              </a:ext>
            </a:extLst>
          </p:cNvPr>
          <p:cNvSpPr/>
          <p:nvPr/>
        </p:nvSpPr>
        <p:spPr>
          <a:xfrm>
            <a:off x="600000" y="1107693"/>
            <a:ext cx="1480000" cy="307893"/>
          </a:xfrm>
          <a:custGeom>
            <a:avLst/>
            <a:gdLst>
              <a:gd name="csX0" fmla="*/ 240005 w 2160000"/>
              <a:gd name="csY0" fmla="*/ 0 h 307893"/>
              <a:gd name="csX1" fmla="*/ 1919995 w 2160000"/>
              <a:gd name="csY1" fmla="*/ 0 h 307893"/>
              <a:gd name="csX2" fmla="*/ 2160000 w 2160000"/>
              <a:gd name="csY2" fmla="*/ 240005 h 307893"/>
              <a:gd name="csX3" fmla="*/ 2160000 w 2160000"/>
              <a:gd name="csY3" fmla="*/ 307893 h 307893"/>
              <a:gd name="csX4" fmla="*/ 0 w 2160000"/>
              <a:gd name="csY4" fmla="*/ 307893 h 307893"/>
              <a:gd name="csX5" fmla="*/ 0 w 2160000"/>
              <a:gd name="csY5" fmla="*/ 240005 h 307893"/>
              <a:gd name="csX6" fmla="*/ 240005 w 2160000"/>
              <a:gd name="csY6" fmla="*/ 0 h 307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160000" h="307893">
                <a:moveTo>
                  <a:pt x="240005" y="0"/>
                </a:moveTo>
                <a:lnTo>
                  <a:pt x="1919995" y="0"/>
                </a:lnTo>
                <a:cubicBezTo>
                  <a:pt x="2052546" y="0"/>
                  <a:pt x="2160000" y="107454"/>
                  <a:pt x="2160000" y="240005"/>
                </a:cubicBezTo>
                <a:lnTo>
                  <a:pt x="2160000" y="307893"/>
                </a:lnTo>
                <a:lnTo>
                  <a:pt x="0" y="307893"/>
                </a:ln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rgbClr val="F0F0F0"/>
          </a:solidFill>
          <a:ln w="12700">
            <a:solidFill>
              <a:srgbClr val="BBBBBB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  <a:ea typeface="나눔스퀘어_ac ExtraBold" panose="020B0600000101010101" pitchFamily="50" charset="-127"/>
            </a:endParaRPr>
          </a:p>
        </p:txBody>
      </p:sp>
      <p:sp>
        <p:nvSpPr>
          <p:cNvPr id="12" name="UILabel">
            <a:extLst>
              <a:ext uri="{FF2B5EF4-FFF2-40B4-BE49-F238E27FC236}">
                <a16:creationId xmlns:a16="http://schemas.microsoft.com/office/drawing/2014/main" id="{C589FD23-4C69-CAAE-A4BD-3C507BD7FB1F}"/>
              </a:ext>
            </a:extLst>
          </p:cNvPr>
          <p:cNvSpPr txBox="1"/>
          <p:nvPr/>
        </p:nvSpPr>
        <p:spPr>
          <a:xfrm>
            <a:off x="700000" y="1143624"/>
            <a:ext cx="900000" cy="228600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333333"/>
                </a:solidFill>
                <a:highlight>
                  <a:srgbClr val="F9D9E8"/>
                </a:highlight>
                <a:latin typeface="+mj-lt"/>
                <a:ea typeface="나눔스퀘어_ac ExtraBold" panose="020B0600000101010101" pitchFamily="50" charset="-127"/>
              </a:rPr>
              <a:t>Next.js</a:t>
            </a:r>
          </a:p>
        </p:txBody>
      </p:sp>
      <p:pic>
        <p:nvPicPr>
          <p:cNvPr id="121" name="그래픽 120" descr="자물쇠 단색으로 채워진">
            <a:extLst>
              <a:ext uri="{FF2B5EF4-FFF2-40B4-BE49-F238E27FC236}">
                <a16:creationId xmlns:a16="http://schemas.microsoft.com/office/drawing/2014/main" id="{0A29C046-7DE3-E38A-E6B9-E864FBC3D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42056" y="3175019"/>
            <a:ext cx="544354" cy="544354"/>
          </a:xfrm>
          <a:prstGeom prst="rect">
            <a:avLst/>
          </a:prstGeom>
        </p:spPr>
      </p:pic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08B2A916-63D3-253C-0718-A197F71C050F}"/>
              </a:ext>
            </a:extLst>
          </p:cNvPr>
          <p:cNvCxnSpPr>
            <a:cxnSpLocks/>
          </p:cNvCxnSpPr>
          <p:nvPr/>
        </p:nvCxnSpPr>
        <p:spPr>
          <a:xfrm flipV="1">
            <a:off x="7923620" y="3707602"/>
            <a:ext cx="0" cy="3157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7533CCFA-E378-3D2A-4B5A-CEBA9F7C57EB}"/>
              </a:ext>
            </a:extLst>
          </p:cNvPr>
          <p:cNvCxnSpPr>
            <a:cxnSpLocks/>
          </p:cNvCxnSpPr>
          <p:nvPr/>
        </p:nvCxnSpPr>
        <p:spPr>
          <a:xfrm flipV="1">
            <a:off x="7923620" y="2862446"/>
            <a:ext cx="0" cy="33963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F1CB161C-D0C9-51A4-2B17-9B9C96D9EE10}"/>
              </a:ext>
            </a:extLst>
          </p:cNvPr>
          <p:cNvCxnSpPr>
            <a:cxnSpLocks/>
          </p:cNvCxnSpPr>
          <p:nvPr/>
        </p:nvCxnSpPr>
        <p:spPr>
          <a:xfrm>
            <a:off x="2234020" y="3696623"/>
            <a:ext cx="0" cy="34159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D72F9874-04C1-833B-7170-F9C3B6D5E401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881570" y="1819430"/>
            <a:ext cx="820573" cy="601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8" name="그림 87">
            <a:extLst>
              <a:ext uri="{FF2B5EF4-FFF2-40B4-BE49-F238E27FC236}">
                <a16:creationId xmlns:a16="http://schemas.microsoft.com/office/drawing/2014/main" id="{7A22BBA7-F5F0-F890-8FAA-F2D0CF3629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6905" y="4781745"/>
            <a:ext cx="1539604" cy="1271588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7B043377-1A1E-C1EB-FCA4-E44C05539FA0}"/>
              </a:ext>
            </a:extLst>
          </p:cNvPr>
          <p:cNvGrpSpPr/>
          <p:nvPr/>
        </p:nvGrpSpPr>
        <p:grpSpPr>
          <a:xfrm>
            <a:off x="7729371" y="4848074"/>
            <a:ext cx="1336468" cy="128361"/>
            <a:chOff x="7729371" y="4848074"/>
            <a:chExt cx="1336468" cy="128361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BF38715-CA43-A591-9DF3-9D4A72588AE0}"/>
                </a:ext>
              </a:extLst>
            </p:cNvPr>
            <p:cNvSpPr/>
            <p:nvPr/>
          </p:nvSpPr>
          <p:spPr>
            <a:xfrm>
              <a:off x="7818967" y="4848074"/>
              <a:ext cx="1229746" cy="128361"/>
            </a:xfrm>
            <a:prstGeom prst="rect">
              <a:avLst/>
            </a:prstGeom>
            <a:solidFill>
              <a:srgbClr val="F6F9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0C10E490-D9E3-F18A-E2BF-60836DA80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729371" y="4848074"/>
              <a:ext cx="408600" cy="106348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E5AE4C90-ECAF-2DAB-E76F-BE88BF923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1250" t="1" b="397"/>
            <a:stretch>
              <a:fillRect/>
            </a:stretch>
          </p:blipFill>
          <p:spPr>
            <a:xfrm>
              <a:off x="8155097" y="4853252"/>
              <a:ext cx="910742" cy="95974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D6E158D-6632-E5FB-CD04-C414FD7C74BF}"/>
              </a:ext>
            </a:extLst>
          </p:cNvPr>
          <p:cNvGrpSpPr/>
          <p:nvPr/>
        </p:nvGrpSpPr>
        <p:grpSpPr>
          <a:xfrm>
            <a:off x="6039694" y="4781798"/>
            <a:ext cx="1539604" cy="1000574"/>
            <a:chOff x="6039694" y="4781798"/>
            <a:chExt cx="1539604" cy="1000574"/>
          </a:xfrm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78122A71-D4DA-BD17-C4F6-2C10F0112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t="58479"/>
            <a:stretch>
              <a:fillRect/>
            </a:stretch>
          </p:blipFill>
          <p:spPr>
            <a:xfrm>
              <a:off x="6039694" y="4781798"/>
              <a:ext cx="1539604" cy="1000574"/>
            </a:xfrm>
            <a:prstGeom prst="rect">
              <a:avLst/>
            </a:prstGeom>
          </p:spPr>
        </p:pic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88D5AD7-7310-D503-055F-0427F42F68F5}"/>
                </a:ext>
              </a:extLst>
            </p:cNvPr>
            <p:cNvSpPr/>
            <p:nvPr/>
          </p:nvSpPr>
          <p:spPr>
            <a:xfrm>
              <a:off x="7169150" y="5475620"/>
              <a:ext cx="268882" cy="74446"/>
            </a:xfrm>
            <a:prstGeom prst="rect">
              <a:avLst/>
            </a:prstGeom>
            <a:solidFill>
              <a:srgbClr val="FEFF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54059F81-7907-C681-A4AE-4E0027BE5B3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6135" y="5455471"/>
            <a:ext cx="159800" cy="89031"/>
          </a:xfrm>
          <a:prstGeom prst="rect">
            <a:avLst/>
          </a:prstGeom>
        </p:spPr>
      </p:pic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5EB4A4D-F889-2E26-460A-7391C618C75B}"/>
              </a:ext>
            </a:extLst>
          </p:cNvPr>
          <p:cNvCxnSpPr/>
          <p:nvPr/>
        </p:nvCxnSpPr>
        <p:spPr>
          <a:xfrm flipV="1">
            <a:off x="5214233" y="5202955"/>
            <a:ext cx="124530" cy="272665"/>
          </a:xfrm>
          <a:prstGeom prst="line">
            <a:avLst/>
          </a:prstGeom>
          <a:ln w="9525">
            <a:solidFill>
              <a:srgbClr val="319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210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129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 진영</dc:creator>
  <cp:lastModifiedBy>임재모</cp:lastModifiedBy>
  <cp:revision>21</cp:revision>
  <dcterms:created xsi:type="dcterms:W3CDTF">2026-05-08T08:39:08Z</dcterms:created>
  <dcterms:modified xsi:type="dcterms:W3CDTF">2026-05-11T10:41:17Z</dcterms:modified>
</cp:coreProperties>
</file>