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</p:sldIdLst>
  <p:sldSz cx="12192000" cy="6858000"/>
  <p:notesSz cx="6858000" cy="9144000"/>
  <p:embeddedFontLst>
    <p:embeddedFont>
      <p:font typeface="맑은 고딕" panose="020B0503020000020004" pitchFamily="50" charset="-127"/>
      <p:regular r:id="rId3"/>
      <p:bold r:id="rId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9634"/>
    <a:srgbClr val="FEFFFE"/>
    <a:srgbClr val="F6F9F6"/>
    <a:srgbClr val="F0F0F0"/>
    <a:srgbClr val="BFBB11"/>
    <a:srgbClr val="FBFAD1"/>
    <a:srgbClr val="F8F6A8"/>
    <a:srgbClr val="E0CF2E"/>
    <a:srgbClr val="FFB9B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5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F5DB-4690-7911-85C8-BBA071A02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2D2E52-27E4-9184-6BE9-7D019D12F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FB444-8300-19E9-1E7F-112FFEA3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DEC076-8ED4-AAEE-FFC6-56D27DBE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6782C-8E66-A931-60A4-3AF2B447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8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1AEBF-6210-2824-5F72-815EB50D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1DE37-5B65-BA6F-3883-1B3A15DD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909F3E-CF89-2386-526D-DC4AB385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0E628-0689-84A4-A7A2-8A452674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0CB44-B153-4393-3AE9-3AF251D7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7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D0D7F-75C7-D6C1-AA7A-63CD65AA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616637-854A-1E25-6F95-F8322D0F9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7B392-EF56-F8ED-980C-C60AE1FC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AACFE-70CE-B95D-F0F7-CEC4FC39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7C654-8361-4D5C-1DAE-1F94310A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64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C6E78-9233-9F2C-8731-FFC296AB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090610-9D60-DE7F-DF7F-9BFD5B275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E51B0E-C8F2-EE84-A8DC-5DB83B52F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12D2F9-CF83-B2DE-5D11-32DA1C60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4FD0CD-5417-5147-E800-5E77D2E5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4FBA2-945F-4EB1-5610-4027BB12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18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B73E6-39EB-2F45-FB0B-48BDE0CE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FFC6D6-1F0A-D69F-2FE7-0663A4249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9CE64D-7CD5-5D18-1EF6-125CC7C12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848403-5D5A-E247-D9D3-2A6BC3A29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9FF0F-C287-17D0-4B7D-34F0D03B7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3485E1-611A-85ED-C96E-9BC2163E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22F5A0-43D3-FFF1-7A47-22D696E6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22E1BE-F1B4-D202-EC98-13D05136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99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43358-4CB9-80FF-A5F9-3EB3537E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B6A57E-B060-6033-1971-257950B5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D0FF99-B25D-3F0D-F636-3F2D1369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76BE4E-200F-774C-C8C9-E3CD61CA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58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148B5A-81CB-E5D4-2B2E-B01F2F27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654067-4E17-9822-1C6D-1123E7B0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0F9F8-4E6A-ABC6-83D5-B619C5E0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06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44582-034A-563D-FA4A-E048A91D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B2499-94AC-D36B-64BD-0B1B41A5C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4C533F-3314-AC6B-4FE3-AACDE1E8E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CCAF5E-806A-0FAB-D66C-2EE050D6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9B3AAD-754E-9E9F-E21F-35CF8D1D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569B9D-4C02-7142-D26A-A4EBB27C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39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60104-FB4B-A4C1-CE5D-204D392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1E1A32-D4BD-CA54-4B73-4B1963820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F2EA44-156E-AA3F-F6D2-1156284C9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615B64-BE9A-BC34-5F44-14874020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373B2D-AE0B-C612-87A7-9622FE6B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495660-FEC3-DA41-1AD4-C6F38A8A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7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DE02C-5F94-493A-F61A-25F27976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382E73-21C0-1218-3996-6DD93A27B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D02FD5-2CCB-76CE-D3A5-BEDD47CB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FAAB3E-B2D1-0340-C5C1-F1C4C5D2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548043-480A-0955-5680-8DC51E90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10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CB5911-B0C9-5247-5D7D-DEA5FEAEA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2FC2B-03BD-0191-F6CD-D90A8DF8D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8766F-A112-1C44-1DEE-BAA725BB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2E36C-34A1-BB10-A13B-7305AB44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812A5-1E51-8254-C5F2-06A0CA5D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1926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5FCF47-D999-767F-EE28-FC7BD160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2312D5-C2B9-ED84-B010-0F734A27D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B4DC70-9F39-25D9-ED07-AD9D86547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C666A-C6D7-42EC-8DA6-D1E904A8C29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1595B-1003-9BFE-5CBF-3EDF825F6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AF85E-66D7-6257-804A-7194B085A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2FEA3-2850-41F7-85F3-6FCB02012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3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sv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microsoft.com/office/2007/relationships/hdphoto" Target="../media/hdphoto2.wdp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UserNextBox"/>
          <p:cNvSpPr/>
          <p:nvPr/>
        </p:nvSpPr>
        <p:spPr>
          <a:xfrm>
            <a:off x="670000" y="2450000"/>
            <a:ext cx="1900000" cy="9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(Next.js)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ko-KR" sz="2100" b="1">
                <a:solidFill>
                  <a:srgbClr val="111827"/>
                </a:solidFill>
                <a:latin typeface="Malgun Gothic"/>
                <a:ea typeface="Malgun Gothic"/>
              </a:rPr>
              <a:t>사용자 입력</a:t>
            </a:r>
          </a:p>
          <a:p>
            <a:pPr algn="ctr"/>
            <a:r>
              <a:rPr lang="ko-KR" sz="2100" b="1">
                <a:solidFill>
                  <a:srgbClr val="111827"/>
                </a:solidFill>
                <a:latin typeface="Malgun Gothic"/>
                <a:ea typeface="Malgun Gothic"/>
              </a:rPr>
              <a:t>(Next.js)</a:t>
            </a:r>
          </a:p>
        </p:txBody>
      </p:sp>
      <p:sp>
        <p:nvSpPr>
          <p:cNvPr id="3" name="SpringBox"/>
          <p:cNvSpPr/>
          <p:nvPr/>
        </p:nvSpPr>
        <p:spPr>
          <a:xfrm>
            <a:off x="3400000" y="2450000"/>
            <a:ext cx="1900000" cy="980000"/>
          </a:xfrm>
          <a:prstGeom prst="roundRect">
            <a:avLst/>
          </a:prstGeom>
          <a:solidFill>
            <a:srgbClr val="EEF7EA"/>
          </a:solidFill>
          <a:ln w="19050">
            <a:solidFill>
              <a:srgbClr val="Spring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ko-KR" sz="2400" b="1">
                <a:solidFill>
                  <a:srgbClr val="1F4D1C"/>
                </a:solidFill>
                <a:latin typeface="Malgun Gothic"/>
                <a:ea typeface="Malgun Gothic"/>
              </a:rPr>
              <a:t>Spring</a:t>
            </a:r>
          </a:p>
        </p:txBody>
      </p:sp>
      <p:sp>
        <p:nvSpPr>
          <p:cNvPr id="4" name="FastAPIBox"/>
          <p:cNvSpPr/>
          <p:nvPr/>
        </p:nvSpPr>
        <p:spPr>
          <a:xfrm>
            <a:off x="6130000" y="2450000"/>
            <a:ext cx="1900000" cy="980000"/>
          </a:xfrm>
          <a:prstGeom prst="roundRect">
            <a:avLst/>
          </a:prstGeom>
          <a:solidFill>
            <a:srgbClr val="EAF7F4"/>
          </a:solidFill>
          <a:ln w="19050">
            <a:solidFill>
              <a:srgbClr val="FastAPI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ko-KR" sz="2400" b="1">
                <a:solidFill>
                  <a:srgbClr val="075E54"/>
                </a:solidFill>
                <a:latin typeface="Malgun Gothic"/>
                <a:ea typeface="Malgun Gothic"/>
              </a:rPr>
              <a:t>FastAPI</a:t>
            </a:r>
          </a:p>
        </p:txBody>
      </p:sp>
      <p:sp>
        <p:nvSpPr>
          <p:cNvPr id="5" name="LLMBox"/>
          <p:cNvSpPr/>
          <p:nvPr/>
        </p:nvSpPr>
        <p:spPr>
          <a:xfrm>
            <a:off x="8860000" y="2450000"/>
            <a:ext cx="2100000" cy="98000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LLM MODEL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ko-KR" sz="2400" b="1">
                <a:solidFill>
                  <a:srgbClr val="4C1D95"/>
                </a:solidFill>
                <a:latin typeface="Malgun Gothic"/>
                <a:ea typeface="Malgun Gothic"/>
              </a:rPr>
              <a:t>LLM MODEL</a:t>
            </a:r>
          </a:p>
        </p:txBody>
      </p:sp>
      <p:cxnSp>
        <p:nvCxnSpPr>
          <p:cNvPr id="10" name="RequestArrow1"/>
          <p:cNvCxnSpPr/>
          <p:nvPr/>
        </p:nvCxnSpPr>
        <p:spPr>
          <a:xfrm>
            <a:off x="2670000" y="2760000"/>
            <a:ext cx="640000" cy="0"/>
          </a:xfrm>
          <a:prstGeom prst="straightConnector1">
            <a:avLst/>
          </a:prstGeom>
          <a:ln w="38100">
            <a:solidFill>
              <a:srgbClr val="2563E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RequestArrow2"/>
          <p:cNvCxnSpPr/>
          <p:nvPr/>
        </p:nvCxnSpPr>
        <p:spPr>
          <a:xfrm>
            <a:off x="5400000" y="2760000"/>
            <a:ext cx="640000" cy="0"/>
          </a:xfrm>
          <a:prstGeom prst="straightConnector1">
            <a:avLst/>
          </a:prstGeom>
          <a:ln w="38100">
            <a:solidFill>
              <a:srgbClr val="2563E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RequestArrow3"/>
          <p:cNvCxnSpPr/>
          <p:nvPr/>
        </p:nvCxnSpPr>
        <p:spPr>
          <a:xfrm>
            <a:off x="8130000" y="2760000"/>
            <a:ext cx="640000" cy="0"/>
          </a:xfrm>
          <a:prstGeom prst="straightConnector1">
            <a:avLst/>
          </a:prstGeom>
          <a:ln w="38100">
            <a:solidFill>
              <a:srgbClr val="2563E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ReturnArrow1"/>
          <p:cNvCxnSpPr/>
          <p:nvPr/>
        </p:nvCxnSpPr>
        <p:spPr>
          <a:xfrm>
            <a:off x="2670000" y="3150000"/>
            <a:ext cx="640000" cy="0"/>
          </a:xfrm>
          <a:prstGeom prst="straightConnector1">
            <a:avLst/>
          </a:prstGeom>
          <a:ln w="38100">
            <a:solidFill>
              <a:srgbClr val="16A34A"/>
            </a:solidFill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ReturnArrow2"/>
          <p:cNvCxnSpPr/>
          <p:nvPr/>
        </p:nvCxnSpPr>
        <p:spPr>
          <a:xfrm>
            <a:off x="5400000" y="3150000"/>
            <a:ext cx="640000" cy="0"/>
          </a:xfrm>
          <a:prstGeom prst="straightConnector1">
            <a:avLst/>
          </a:prstGeom>
          <a:ln w="38100">
            <a:solidFill>
              <a:srgbClr val="16A34A"/>
            </a:solidFill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ReturnArrow3"/>
          <p:cNvCxnSpPr/>
          <p:nvPr/>
        </p:nvCxnSpPr>
        <p:spPr>
          <a:xfrm>
            <a:off x="8130000" y="3150000"/>
            <a:ext cx="640000" cy="0"/>
          </a:xfrm>
          <a:prstGeom prst="straightConnector1">
            <a:avLst/>
          </a:prstGeom>
          <a:ln w="38100">
            <a:solidFill>
              <a:srgbClr val="16A34A"/>
            </a:solidFill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questLabel"/>
          <p:cNvSpPr txBox="1"/>
          <p:nvPr/>
        </p:nvSpPr>
        <p:spPr>
          <a:xfrm>
            <a:off x="5070000" y="2020000"/>
            <a:ext cx="18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700" b="1">
                <a:solidFill>
                  <a:srgbClr val="2563EB"/>
                </a:solidFill>
                <a:latin typeface="Malgun Gothic"/>
                <a:ea typeface="Malgun Gothic"/>
              </a:rPr>
              <a:t>요청 흐름</a:t>
            </a:r>
          </a:p>
        </p:txBody>
      </p:sp>
      <p:sp>
        <p:nvSpPr>
          <p:cNvPr id="21" name="ReturnLabel"/>
          <p:cNvSpPr txBox="1"/>
          <p:nvPr/>
        </p:nvSpPr>
        <p:spPr>
          <a:xfrm>
            <a:off x="5070000" y="3550000"/>
            <a:ext cx="18000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700" b="1">
                <a:solidFill>
                  <a:srgbClr val="16A34A"/>
                </a:solidFill>
                <a:latin typeface="Malgun Gothic"/>
                <a:ea typeface="Malgun Gothic"/>
              </a:rPr>
              <a:t>반환 흐름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2400000" y="105000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2600" b="1">
                <a:solidFill>
                  <a:srgbClr val="111827"/>
                </a:solidFill>
                <a:latin typeface="Malgun Gothic"/>
                <a:ea typeface="Malgun Gothic"/>
              </a:rPr>
              <a:t>사용자 입력부터 LLM 응답까지의 처리 흐름</a:t>
            </a:r>
          </a:p>
        </p:txBody>
      </p:sp>
      <p:sp>
        <p:nvSpPr>
          <p:cNvPr id="23" name="Subtitle"/>
          <p:cNvSpPr txBox="1"/>
          <p:nvPr/>
        </p:nvSpPr>
        <p:spPr>
          <a:xfrm>
            <a:off x="2950000" y="1600000"/>
            <a:ext cx="63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450" b="1">
                <a:solidFill>
                  <a:srgbClr val="475569"/>
                </a:solidFill>
                <a:latin typeface="Malgun Gothic"/>
                <a:ea typeface="Malgun Gothic"/>
              </a:rPr>
              <a:t>요청은 Next.js → Spring → FastAPI → LLM MODEL, 반환은 역순으로 전달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129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 진영</dc:creator>
  <cp:lastModifiedBy>임재모</cp:lastModifiedBy>
  <cp:revision>21</cp:revision>
  <dcterms:created xsi:type="dcterms:W3CDTF">2026-05-08T08:39:08Z</dcterms:created>
  <dcterms:modified xsi:type="dcterms:W3CDTF">2026-05-11T10:41:17Z</dcterms:modified>
</cp:coreProperties>
</file>